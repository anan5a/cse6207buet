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 # Fault-Tolerant Distributed Systems — Final Presentation</a:t>
            </a:r>
          </a:p>
        </p:txBody>
      </p:sp>
      <p:sp>
        <p:nvSpPr>
          <p:cNvPr id="5" name="TextBox 4"/>
          <p:cNvSpPr txBox="1"/>
          <p:nvPr/>
        </p:nvSpPr>
        <p:spPr>
          <a:xfrm>
            <a:off x="731520" y="1280160"/>
            <a:ext cx="10698480" cy="228600"/>
          </a:xfrm>
          <a:prstGeom prst="rect">
            <a:avLst/>
          </a:prstGeom>
          <a:noFill/>
        </p:spPr>
        <p:txBody>
          <a:bodyPr wrap="square">
            <a:spAutoFit/>
          </a:bodyPr>
          <a:lstStyle/>
          <a:p>
            <a:pPr>
              <a:spcAft>
                <a:spcPts val="600"/>
              </a:spcAft>
            </a:pPr>
            <a:r>
              <a:rPr sz="1700">
                <a:solidFill>
                  <a:srgbClr val="94A3B8"/>
                </a:solidFill>
              </a:rPr>
              <a:t>## Chaos Engineering Framework for Microservices Resilience</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 Problem Definition</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Microservices communicate over unreliable networks. When a downstream service degrades (increasing latency or returning transient errors), upstream services amplify the problem through uncontrolled retries — causing cascading failures that bring down entire systems.</a:t>
            </a:r>
          </a:p>
          <a:p>
            <a:pPr>
              <a:spcAft>
                <a:spcPts val="800"/>
              </a:spcAft>
            </a:pPr>
            <a:r>
              <a:rPr sz="1800">
                <a:solidFill>
                  <a:srgbClr val="94A3B8"/>
                </a:solidFill>
              </a:rPr>
              <a:t>### Three risk mechanisms:</a:t>
            </a:r>
          </a:p>
        </p:txBody>
      </p:sp>
      <p:graphicFrame>
        <p:nvGraphicFramePr>
          <p:cNvPr id="6" name="Table 5"/>
          <p:cNvGraphicFramePr>
            <a:graphicFrameLocks noGrp="1"/>
          </p:cNvGraphicFramePr>
          <p:nvPr/>
        </p:nvGraphicFramePr>
        <p:xfrm>
          <a:off x="731520" y="1554480"/>
          <a:ext cx="10698480" cy="1737360"/>
        </p:xfrm>
        <a:graphic>
          <a:graphicData uri="http://schemas.openxmlformats.org/drawingml/2006/table">
            <a:tbl>
              <a:tblPr firstRow="1" bandRow="1">
                <a:tableStyleId>{5C22544A-7EE6-4342-B048-85BDC9FD1C3A}</a:tableStyleId>
              </a:tblPr>
              <a:tblGrid>
                <a:gridCol w="3566160"/>
                <a:gridCol w="3566160"/>
                <a:gridCol w="3566160"/>
              </a:tblGrid>
              <a:tr h="347472">
                <a:tc>
                  <a:txBody>
                    <a:bodyPr/>
                    <a:lstStyle/>
                    <a:p>
                      <a:pPr>
                        <a:defRPr sz="1300" b="1">
                          <a:solidFill>
                            <a:srgbClr val="F1F5F9"/>
                          </a:solidFill>
                        </a:defRPr>
                      </a:pPr>
                      <a:r>
                        <a:t>Risk</a:t>
                      </a:r>
                    </a:p>
                  </a:txBody>
                  <a:tcPr>
                    <a:solidFill>
                      <a:srgbClr val="1E3A8A"/>
                    </a:solidFill>
                  </a:tcPr>
                </a:tc>
                <a:tc>
                  <a:txBody>
                    <a:bodyPr/>
                    <a:lstStyle/>
                    <a:p>
                      <a:pPr algn="ctr">
                        <a:defRPr sz="1300" b="1">
                          <a:solidFill>
                            <a:srgbClr val="F1F5F9"/>
                          </a:solidFill>
                        </a:defRPr>
                      </a:pPr>
                      <a:r>
                        <a:t>Mechanism</a:t>
                      </a:r>
                    </a:p>
                  </a:txBody>
                  <a:tcPr>
                    <a:solidFill>
                      <a:srgbClr val="1E3A8A"/>
                    </a:solidFill>
                  </a:tcPr>
                </a:tc>
                <a:tc>
                  <a:txBody>
                    <a:bodyPr/>
                    <a:lstStyle/>
                    <a:p>
                      <a:pPr algn="ctr">
                        <a:defRPr sz="1300" b="1">
                          <a:solidFill>
                            <a:srgbClr val="F1F5F9"/>
                          </a:solidFill>
                        </a:defRPr>
                      </a:pPr>
                      <a:r>
                        <a:t>Consequence</a:t>
                      </a:r>
                    </a:p>
                  </a:txBody>
                  <a:tcPr>
                    <a:solidFill>
                      <a:srgbClr val="1E3A8A"/>
                    </a:solidFill>
                  </a:tcPr>
                </a:tc>
              </a:tr>
              <a:tr h="347472">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7472">
                <a:tc>
                  <a:txBody>
                    <a:bodyPr/>
                    <a:lstStyle/>
                    <a:p>
                      <a:pPr>
                        <a:defRPr sz="1200" b="1">
                          <a:solidFill>
                            <a:srgbClr val="F1F5F9"/>
                          </a:solidFill>
                        </a:defRPr>
                      </a:pPr>
                      <a:r>
                        <a:t>**Resource exhaustion**</a:t>
                      </a:r>
                    </a:p>
                  </a:txBody>
                  <a:tcPr>
                    <a:solidFill>
                      <a:srgbClr val="1E293B"/>
                    </a:solidFill>
                  </a:tcPr>
                </a:tc>
                <a:tc>
                  <a:txBody>
                    <a:bodyPr/>
                    <a:lstStyle/>
                    <a:p>
                      <a:pPr algn="ctr">
                        <a:defRPr sz="1200">
                          <a:solidFill>
                            <a:srgbClr val="F1F5F9"/>
                          </a:solidFill>
                        </a:defRPr>
                      </a:pPr>
                      <a:r>
                        <a:t>Threads/tokens block waiting for slow downstream</a:t>
                      </a:r>
                    </a:p>
                  </a:txBody>
                  <a:tcPr>
                    <a:solidFill>
                      <a:srgbClr val="1E293B"/>
                    </a:solidFill>
                  </a:tcPr>
                </a:tc>
                <a:tc>
                  <a:txBody>
                    <a:bodyPr/>
                    <a:lstStyle/>
                    <a:p>
                      <a:pPr algn="ctr">
                        <a:defRPr sz="1200">
                          <a:solidFill>
                            <a:srgbClr val="F1F5F9"/>
                          </a:solidFill>
                        </a:defRPr>
                      </a:pPr>
                      <a:r>
                        <a:t>Service becomes unresponsive even to healthy calls</a:t>
                      </a:r>
                    </a:p>
                  </a:txBody>
                  <a:tcPr>
                    <a:solidFill>
                      <a:srgbClr val="1E293B"/>
                    </a:solidFill>
                  </a:tcPr>
                </a:tc>
              </a:tr>
              <a:tr h="347472">
                <a:tc>
                  <a:txBody>
                    <a:bodyPr/>
                    <a:lstStyle/>
                    <a:p>
                      <a:pPr>
                        <a:defRPr sz="1200" b="1">
                          <a:solidFill>
                            <a:srgbClr val="F1F5F9"/>
                          </a:solidFill>
                        </a:defRPr>
                      </a:pPr>
                      <a:r>
                        <a:t>**Amplification**</a:t>
                      </a:r>
                    </a:p>
                  </a:txBody>
                  <a:tcPr/>
                </a:tc>
                <a:tc>
                  <a:txBody>
                    <a:bodyPr/>
                    <a:lstStyle/>
                    <a:p>
                      <a:pPr algn="ctr">
                        <a:defRPr sz="1200">
                          <a:solidFill>
                            <a:srgbClr val="F1F5F9"/>
                          </a:solidFill>
                        </a:defRPr>
                      </a:pPr>
                      <a:r>
                        <a:t>Retries multiply load on an already-struggling system</a:t>
                      </a:r>
                    </a:p>
                  </a:txBody>
                  <a:tcPr/>
                </a:tc>
                <a:tc>
                  <a:txBody>
                    <a:bodyPr/>
                    <a:lstStyle/>
                    <a:p>
                      <a:pPr algn="ctr">
                        <a:defRPr sz="1200">
                          <a:solidFill>
                            <a:srgbClr val="F1F5F9"/>
                          </a:solidFill>
                        </a:defRPr>
                      </a:pPr>
                      <a:r>
                        <a:t>A single slow backend triggers cascading outages across dozens of microservices</a:t>
                      </a:r>
                    </a:p>
                  </a:txBody>
                  <a:tcPr/>
                </a:tc>
              </a:tr>
              <a:tr h="347472">
                <a:tc>
                  <a:txBody>
                    <a:bodyPr/>
                    <a:lstStyle/>
                    <a:p>
                      <a:pPr>
                        <a:defRPr sz="1200" b="1">
                          <a:solidFill>
                            <a:srgbClr val="F1F5F9"/>
                          </a:solidFill>
                        </a:defRPr>
                      </a:pPr>
                      <a:r>
                        <a:t>**Thundering herd**</a:t>
                      </a:r>
                    </a:p>
                  </a:txBody>
                  <a:tcPr>
                    <a:solidFill>
                      <a:srgbClr val="1E293B"/>
                    </a:solidFill>
                  </a:tcPr>
                </a:tc>
                <a:tc>
                  <a:txBody>
                    <a:bodyPr/>
                    <a:lstStyle/>
                    <a:p>
                      <a:pPr algn="ctr">
                        <a:defRPr sz="1200">
                          <a:solidFill>
                            <a:srgbClr val="F1F5F9"/>
                          </a:solidFill>
                        </a:defRPr>
                      </a:pPr>
                      <a:r>
                        <a:t>All clients retry simultaneously after each failure window</a:t>
                      </a:r>
                    </a:p>
                  </a:txBody>
                  <a:tcPr>
                    <a:solidFill>
                      <a:srgbClr val="1E293B"/>
                    </a:solidFill>
                  </a:tcPr>
                </a:tc>
                <a:tc>
                  <a:txBody>
                    <a:bodyPr/>
                    <a:lstStyle/>
                    <a:p>
                      <a:pPr algn="ctr">
                        <a:defRPr sz="1200">
                          <a:solidFill>
                            <a:srgbClr val="F1F5F9"/>
                          </a:solidFill>
                        </a:defRPr>
                      </a:pPr>
                      <a:r>
                        <a:t>Load spike exceeds recovery capacity, creating a feedback loop</a:t>
                      </a:r>
                    </a:p>
                  </a:txBody>
                  <a:tcPr>
                    <a:solidFill>
                      <a:srgbClr val="1E293B"/>
                    </a:solidFill>
                  </a:tcPr>
                </a:tc>
              </a:tr>
            </a:tbl>
          </a:graphicData>
        </a:graphic>
      </p:graphicFrame>
      <p:sp>
        <p:nvSpPr>
          <p:cNvPr id="7" name="TextBox 6"/>
          <p:cNvSpPr txBox="1"/>
          <p:nvPr/>
        </p:nvSpPr>
        <p:spPr>
          <a:xfrm>
            <a:off x="731520" y="3429000"/>
            <a:ext cx="10698480" cy="5029200"/>
          </a:xfrm>
          <a:prstGeom prst="rect">
            <a:avLst/>
          </a:prstGeom>
          <a:noFill/>
        </p:spPr>
        <p:txBody>
          <a:bodyPr wrap="square">
            <a:spAutoFit/>
          </a:bodyPr>
          <a:lstStyle/>
          <a:p>
            <a:pPr>
              <a:spcAft>
                <a:spcPts val="800"/>
              </a:spcAft>
            </a:pPr>
            <a:r>
              <a:rPr sz="1800">
                <a:solidFill>
                  <a:srgbClr val="94A3B8"/>
                </a:solidFill>
              </a:rPr>
              <a:t>This project compares four client-side resilience strategies under controlled fault injection to answer: </a:t>
            </a:r>
            <a:r>
              <a:rPr sz="1800" b="1">
                <a:solidFill>
                  <a:srgbClr val="B8CEF5"/>
                </a:solidFill>
              </a:rPr>
              <a:t>which pattern actually works best under realistic degradation?</a:t>
            </a:r>
            <a:r>
              <a:rPr sz="1800">
                <a:solidFill>
                  <a:srgbClr val="94A3B8"/>
                </a:solidFill>
              </a:rPr>
              <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2. Motivation — Why Is This Important?</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Failure impact spans every domain relying on distributed systems:</a:t>
            </a:r>
          </a:p>
        </p:txBody>
      </p:sp>
      <p:graphicFrame>
        <p:nvGraphicFramePr>
          <p:cNvPr id="6" name="Table 5"/>
          <p:cNvGraphicFramePr>
            <a:graphicFrameLocks noGrp="1"/>
          </p:cNvGraphicFramePr>
          <p:nvPr/>
        </p:nvGraphicFramePr>
        <p:xfrm>
          <a:off x="731520" y="1554480"/>
          <a:ext cx="10698480" cy="2057399"/>
        </p:xfrm>
        <a:graphic>
          <a:graphicData uri="http://schemas.openxmlformats.org/drawingml/2006/table">
            <a:tbl>
              <a:tblPr firstRow="1" bandRow="1">
                <a:tableStyleId>{5C22544A-7EE6-4342-B048-85BDC9FD1C3A}</a:tableStyleId>
              </a:tblPr>
              <a:tblGrid>
                <a:gridCol w="3566160"/>
                <a:gridCol w="3566160"/>
                <a:gridCol w="3566160"/>
              </a:tblGrid>
              <a:tr h="342899">
                <a:tc>
                  <a:txBody>
                    <a:bodyPr/>
                    <a:lstStyle/>
                    <a:p>
                      <a:pPr>
                        <a:defRPr sz="1300" b="1">
                          <a:solidFill>
                            <a:srgbClr val="F1F5F9"/>
                          </a:solidFill>
                        </a:defRPr>
                      </a:pPr>
                      <a:r>
                        <a:t>Domain</a:t>
                      </a:r>
                    </a:p>
                  </a:txBody>
                  <a:tcPr>
                    <a:solidFill>
                      <a:srgbClr val="1E3A8A"/>
                    </a:solidFill>
                  </a:tcPr>
                </a:tc>
                <a:tc>
                  <a:txBody>
                    <a:bodyPr/>
                    <a:lstStyle/>
                    <a:p>
                      <a:pPr algn="ctr">
                        <a:defRPr sz="1300" b="1">
                          <a:solidFill>
                            <a:srgbClr val="F1F5F9"/>
                          </a:solidFill>
                        </a:defRPr>
                      </a:pPr>
                      <a:r>
                        <a:t>Failure Scenario</a:t>
                      </a:r>
                    </a:p>
                  </a:txBody>
                  <a:tcPr>
                    <a:solidFill>
                      <a:srgbClr val="1E3A8A"/>
                    </a:solidFill>
                  </a:tcPr>
                </a:tc>
                <a:tc>
                  <a:txBody>
                    <a:bodyPr/>
                    <a:lstStyle/>
                    <a:p>
                      <a:pPr algn="ctr">
                        <a:defRPr sz="1300" b="1">
                          <a:solidFill>
                            <a:srgbClr val="F1F5F9"/>
                          </a:solidFill>
                        </a:defRPr>
                      </a:pPr>
                      <a:r>
                        <a:t>Impact</a:t>
                      </a:r>
                    </a:p>
                  </a:txBody>
                  <a:tcPr>
                    <a:solidFill>
                      <a:srgbClr val="1E3A8A"/>
                    </a:solidFill>
                  </a:tcPr>
                </a:tc>
              </a:tr>
              <a:tr h="34289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2899">
                <a:tc>
                  <a:txBody>
                    <a:bodyPr/>
                    <a:lstStyle/>
                    <a:p>
                      <a:pPr>
                        <a:defRPr sz="1200" b="1">
                          <a:solidFill>
                            <a:srgbClr val="F1F5F9"/>
                          </a:solidFill>
                        </a:defRPr>
                      </a:pPr>
                      <a:r>
                        <a:t>E-commerce checkout</a:t>
                      </a:r>
                    </a:p>
                  </a:txBody>
                  <a:tcPr>
                    <a:solidFill>
                      <a:srgbClr val="1E293B"/>
                    </a:solidFill>
                  </a:tcPr>
                </a:tc>
                <a:tc>
                  <a:txBody>
                    <a:bodyPr/>
                    <a:lstStyle/>
                    <a:p>
                      <a:pPr algn="ctr">
                        <a:defRPr sz="1200">
                          <a:solidFill>
                            <a:srgbClr val="F1F5F9"/>
                          </a:solidFill>
                        </a:defRPr>
                      </a:pPr>
                      <a:r>
                        <a:t>Payment gateway slows from 50ms → 2000ms</a:t>
                      </a:r>
                    </a:p>
                  </a:txBody>
                  <a:tcPr>
                    <a:solidFill>
                      <a:srgbClr val="1E293B"/>
                    </a:solidFill>
                  </a:tcPr>
                </a:tc>
                <a:tc>
                  <a:txBody>
                    <a:bodyPr/>
                    <a:lstStyle/>
                    <a:p>
                      <a:pPr algn="ctr">
                        <a:defRPr sz="1200">
                          <a:solidFill>
                            <a:srgbClr val="F1F5F9"/>
                          </a:solidFill>
                        </a:defRPr>
                      </a:pPr>
                      <a:r>
                        <a:t>Cart abandonment, revenue loss during peak hours</a:t>
                      </a:r>
                    </a:p>
                  </a:txBody>
                  <a:tcPr>
                    <a:solidFill>
                      <a:srgbClr val="1E293B"/>
                    </a:solidFill>
                  </a:tcPr>
                </a:tc>
              </a:tr>
              <a:tr h="342899">
                <a:tc>
                  <a:txBody>
                    <a:bodyPr/>
                    <a:lstStyle/>
                    <a:p>
                      <a:pPr>
                        <a:defRPr sz="1200" b="1">
                          <a:solidFill>
                            <a:srgbClr val="F1F5F9"/>
                          </a:solidFill>
                        </a:defRPr>
                      </a:pPr>
                      <a:r>
                        <a:t>Healthcare records</a:t>
                      </a:r>
                    </a:p>
                  </a:txBody>
                  <a:tcPr/>
                </a:tc>
                <a:tc>
                  <a:txBody>
                    <a:bodyPr/>
                    <a:lstStyle/>
                    <a:p>
                      <a:pPr algn="ctr">
                        <a:defRPr sz="1200">
                          <a:solidFill>
                            <a:srgbClr val="F1F5F9"/>
                          </a:solidFill>
                        </a:defRPr>
                      </a:pPr>
                      <a:r>
                        <a:t>Patient data API returns intermittent 503s</a:t>
                      </a:r>
                    </a:p>
                  </a:txBody>
                  <a:tcPr/>
                </a:tc>
                <a:tc>
                  <a:txBody>
                    <a:bodyPr/>
                    <a:lstStyle/>
                    <a:p>
                      <a:pPr algn="ctr">
                        <a:defRPr sz="1200">
                          <a:solidFill>
                            <a:srgbClr val="F1F5F9"/>
                          </a:solidFill>
                        </a:defRPr>
                      </a:pPr>
                      <a:r>
                        <a:t>Delayed clinical decisions, compliance risk</a:t>
                      </a:r>
                    </a:p>
                  </a:txBody>
                  <a:tcPr/>
                </a:tc>
              </a:tr>
              <a:tr h="342899">
                <a:tc>
                  <a:txBody>
                    <a:bodyPr/>
                    <a:lstStyle/>
                    <a:p>
                      <a:pPr>
                        <a:defRPr sz="1200" b="1">
                          <a:solidFill>
                            <a:srgbClr val="F1F5F9"/>
                          </a:solidFill>
                        </a:defRPr>
                      </a:pPr>
                      <a:r>
                        <a:t>Financial trading</a:t>
                      </a:r>
                    </a:p>
                  </a:txBody>
                  <a:tcPr>
                    <a:solidFill>
                      <a:srgbClr val="1E293B"/>
                    </a:solidFill>
                  </a:tcPr>
                </a:tc>
                <a:tc>
                  <a:txBody>
                    <a:bodyPr/>
                    <a:lstStyle/>
                    <a:p>
                      <a:pPr algn="ctr">
                        <a:defRPr sz="1200">
                          <a:solidFill>
                            <a:srgbClr val="F1F5F9"/>
                          </a:solidFill>
                        </a:defRPr>
                      </a:pPr>
                      <a:r>
                        <a:t>Order matching service spikes under volatility</a:t>
                      </a:r>
                    </a:p>
                  </a:txBody>
                  <a:tcPr>
                    <a:solidFill>
                      <a:srgbClr val="1E293B"/>
                    </a:solidFill>
                  </a:tcPr>
                </a:tc>
                <a:tc>
                  <a:txBody>
                    <a:bodyPr/>
                    <a:lstStyle/>
                    <a:p>
                      <a:pPr algn="ctr">
                        <a:defRPr sz="1200">
                          <a:solidFill>
                            <a:srgbClr val="F1F5F9"/>
                          </a:solidFill>
                        </a:defRPr>
                      </a:pPr>
                      <a:r>
                        <a:t>Double-charges, race conditions, regulatory breach</a:t>
                      </a:r>
                    </a:p>
                  </a:txBody>
                  <a:tcPr>
                    <a:solidFill>
                      <a:srgbClr val="1E293B"/>
                    </a:solidFill>
                  </a:tcPr>
                </a:tc>
              </a:tr>
              <a:tr h="342904">
                <a:tc>
                  <a:txBody>
                    <a:bodyPr/>
                    <a:lstStyle/>
                    <a:p>
                      <a:pPr>
                        <a:defRPr sz="1200" b="1">
                          <a:solidFill>
                            <a:srgbClr val="F1F5F9"/>
                          </a:solidFill>
                        </a:defRPr>
                      </a:pPr>
                      <a:r>
                        <a:t>Cloud-native deployments</a:t>
                      </a:r>
                    </a:p>
                  </a:txBody>
                  <a:tcPr/>
                </a:tc>
                <a:tc>
                  <a:txBody>
                    <a:bodyPr/>
                    <a:lstStyle/>
                    <a:p>
                      <a:pPr algn="ctr">
                        <a:defRPr sz="1200">
                          <a:solidFill>
                            <a:srgbClr val="F1F5F9"/>
                          </a:solidFill>
                        </a:defRPr>
                      </a:pPr>
                      <a:r>
                        <a:t>Auto-scaling events trigger temporary load imbalances</a:t>
                      </a:r>
                    </a:p>
                  </a:txBody>
                  <a:tcPr/>
                </a:tc>
                <a:tc>
                  <a:txBody>
                    <a:bodyPr/>
                    <a:lstStyle/>
                    <a:p>
                      <a:pPr algn="ctr">
                        <a:defRPr sz="1200">
                          <a:solidFill>
                            <a:srgbClr val="F1F5F9"/>
                          </a:solidFill>
                        </a:defRPr>
                      </a:pPr>
                      <a:r>
                        <a:t>Rolling restarts fail because every pod retries simultaneously</a:t>
                      </a:r>
                    </a:p>
                  </a:txBody>
                  <a:tcPr/>
                </a:tc>
              </a:tr>
            </a:tbl>
          </a:graphicData>
        </a:graphic>
      </p:graphicFrame>
      <p:sp>
        <p:nvSpPr>
          <p:cNvPr id="7" name="TextBox 6"/>
          <p:cNvSpPr txBox="1"/>
          <p:nvPr/>
        </p:nvSpPr>
        <p:spPr>
          <a:xfrm>
            <a:off x="731520" y="3749039"/>
            <a:ext cx="10698480" cy="5029200"/>
          </a:xfrm>
          <a:prstGeom prst="rect">
            <a:avLst/>
          </a:prstGeom>
          <a:noFill/>
        </p:spPr>
        <p:txBody>
          <a:bodyPr wrap="square">
            <a:spAutoFit/>
          </a:bodyPr>
          <a:lstStyle/>
          <a:p>
            <a:pPr>
              <a:spcAft>
                <a:spcPts val="800"/>
              </a:spcAft>
            </a:pPr>
            <a:r>
              <a:rPr sz="1800">
                <a:solidFill>
                  <a:srgbClr val="94A3B8"/>
                </a:solidFill>
              </a:rPr>
              <a:t>Undetected failed requests in dependency chains contribute to cascading failures costing </a:t>
            </a:r>
            <a:r>
              <a:rPr sz="1800" b="1">
                <a:solidFill>
                  <a:srgbClr val="B8CEF5"/>
                </a:solidFill>
              </a:rPr>
              <a:t>$100K–$1M+ per hour</a:t>
            </a:r>
            <a:r>
              <a:rPr sz="1800">
                <a:solidFill>
                  <a:srgbClr val="94A3B8"/>
                </a:solidFill>
              </a:rPr>
              <a:t>. AWS studies show retry storms from transient network blips are a leading cause of self-inflicted cloud outages.</a:t>
            </a:r>
          </a:p>
          <a:p>
            <a:pPr>
              <a:spcAft>
                <a:spcPts val="800"/>
              </a:spcAft>
            </a:pPr>
            <a:r>
              <a:rPr sz="1800">
                <a:solidFill>
                  <a:srgbClr val="94A3B8"/>
                </a:solidFill>
              </a:rPr>
              <a:t>Mitigation patterns exist — but selecting the right one requires measurements, not anecdotes.</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3. Motivation — Why SOTA Does Not Cover This</a:t>
            </a:r>
          </a:p>
        </p:txBody>
      </p:sp>
      <p:sp>
        <p:nvSpPr>
          <p:cNvPr id="5" name="TextBox 4"/>
          <p:cNvSpPr txBox="1"/>
          <p:nvPr/>
        </p:nvSpPr>
        <p:spPr>
          <a:xfrm>
            <a:off x="731520" y="1280160"/>
            <a:ext cx="10698480" cy="914400"/>
          </a:xfrm>
          <a:prstGeom prst="rect">
            <a:avLst/>
          </a:prstGeom>
          <a:noFill/>
        </p:spPr>
        <p:txBody>
          <a:bodyPr wrap="square">
            <a:spAutoFit/>
          </a:bodyPr>
          <a:lstStyle/>
          <a:p>
            <a:pPr>
              <a:spcAft>
                <a:spcPts val="600"/>
              </a:spcAft>
            </a:pPr>
            <a:r>
              <a:rPr sz="1700">
                <a:solidFill>
                  <a:srgbClr val="94A3B8"/>
                </a:solidFill>
              </a:rPr>
              <a:t>Netflix Hystrix, Spring Cloud Circuit Breaker, Resilience4j, Istio sidecars — these are production-grade tools that provide individual implementations. But none deliver:</a:t>
            </a:r>
          </a:p>
          <a:p>
            <a:pPr>
              <a:spcAft>
                <a:spcPts val="600"/>
              </a:spcAft>
            </a:pPr>
            <a:r>
              <a:rPr sz="1700">
                <a:solidFill>
                  <a:srgbClr val="94A3B8"/>
                </a:solidFill>
              </a:rPr>
              <a:t/>
            </a:r>
            <a:r>
              <a:rPr sz="1700" b="1">
                <a:solidFill>
                  <a:srgbClr val="B8CEF5"/>
                </a:solidFill>
              </a:rPr>
              <a:t>Gap 1: No side-by-side quantitative comparison.</a:t>
            </a:r>
            <a:r>
              <a:rPr sz="1700">
                <a:solidFill>
                  <a:srgbClr val="94A3B8"/>
                </a:solidFill>
              </a:rPr>
              <a:t> Each library documents its own behavior through internal benchmarks or testimonials. There is no shared experimental harness running all four patterns under identical fault schedules with the same load profile. Comparisons remain anecdotal.</a:t>
            </a:r>
          </a:p>
          <a:p>
            <a:pPr>
              <a:spcAft>
                <a:spcPts val="600"/>
              </a:spcAft>
            </a:pPr>
            <a:r>
              <a:rPr sz="1700">
                <a:solidFill>
                  <a:srgbClr val="94A3B8"/>
                </a:solidFill>
              </a:rPr>
              <a:t/>
            </a:r>
            <a:r>
              <a:rPr sz="1700" b="1">
                <a:solidFill>
                  <a:srgbClr val="B8CEF5"/>
                </a:solidFill>
              </a:rPr>
              <a:t>Gap 2: No open, reproducible methodology.</a:t>
            </a:r>
            <a:r>
              <a:rPr sz="1700">
                <a:solidFill>
                  <a:srgbClr val="94A3B8"/>
                </a:solidFill>
              </a:rPr>
              <a:t> Evaluation data lives behind closed repos and vendor-specific dashboards. Researchers cannot independently verify published claims. An open framework enables anyone to run the same experiment and audit results.</a:t>
            </a:r>
          </a:p>
          <a:p>
            <a:pPr>
              <a:spcAft>
                <a:spcPts val="600"/>
              </a:spcAft>
            </a:pPr>
            <a:r>
              <a:rPr sz="1700">
                <a:solidFill>
                  <a:srgbClr val="94A3B8"/>
                </a:solidFill>
              </a:rPr>
              <a:t/>
            </a:r>
            <a:r>
              <a:rPr sz="1700" b="1">
                <a:solidFill>
                  <a:srgbClr val="B8CEF5"/>
                </a:solidFill>
              </a:rPr>
              <a:t>Gap 3: No educational scaffolding.</a:t>
            </a:r>
            <a:r>
              <a:rPr sz="1700">
                <a:solidFill>
                  <a:srgbClr val="94A3B8"/>
                </a:solidFill>
              </a:rPr>
              <a:t> Production libraries contain tens of thousands of lines with heavy abstractions — designed for correctness in production, not learnability. Engineers need runnable experiments they can trace step by step.</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4. Motivation — Why Small Changes to SOTA Won't Work</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Using a production library would require non-trivial modifications:</a:t>
            </a:r>
          </a:p>
        </p:txBody>
      </p:sp>
      <p:graphicFrame>
        <p:nvGraphicFramePr>
          <p:cNvPr id="6" name="Table 5"/>
          <p:cNvGraphicFramePr>
            <a:graphicFrameLocks noGrp="1"/>
          </p:cNvGraphicFramePr>
          <p:nvPr/>
        </p:nvGraphicFramePr>
        <p:xfrm>
          <a:off x="731520" y="1554480"/>
          <a:ext cx="10698480" cy="2057399"/>
        </p:xfrm>
        <a:graphic>
          <a:graphicData uri="http://schemas.openxmlformats.org/drawingml/2006/table">
            <a:tbl>
              <a:tblPr firstRow="1" bandRow="1">
                <a:tableStyleId>{5C22544A-7EE6-4342-B048-85BDC9FD1C3A}</a:tableStyleId>
              </a:tblPr>
              <a:tblGrid>
                <a:gridCol w="5349240"/>
                <a:gridCol w="5349240"/>
              </a:tblGrid>
              <a:tr h="342899">
                <a:tc>
                  <a:txBody>
                    <a:bodyPr/>
                    <a:lstStyle/>
                    <a:p>
                      <a:pPr>
                        <a:defRPr sz="1300" b="1">
                          <a:solidFill>
                            <a:srgbClr val="F1F5F9"/>
                          </a:solidFill>
                        </a:defRPr>
                      </a:pPr>
                      <a:r>
                        <a:t>Change Required</a:t>
                      </a:r>
                    </a:p>
                  </a:txBody>
                  <a:tcPr>
                    <a:solidFill>
                      <a:srgbClr val="1E3A8A"/>
                    </a:solidFill>
                  </a:tcPr>
                </a:tc>
                <a:tc>
                  <a:txBody>
                    <a:bodyPr/>
                    <a:lstStyle/>
                    <a:p>
                      <a:pPr algn="ctr">
                        <a:defRPr sz="1300" b="1">
                          <a:solidFill>
                            <a:srgbClr val="F1F5F9"/>
                          </a:solidFill>
                        </a:defRPr>
                      </a:pPr>
                      <a:r>
                        <a:t>Why It Is Non-Trivial</a:t>
                      </a:r>
                    </a:p>
                  </a:txBody>
                  <a:tcPr>
                    <a:solidFill>
                      <a:srgbClr val="1E3A8A"/>
                    </a:solidFill>
                  </a:tcPr>
                </a:tc>
              </a:tr>
              <a:tr h="34289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r>
              <a:tr h="342899">
                <a:tc>
                  <a:txBody>
                    <a:bodyPr/>
                    <a:lstStyle/>
                    <a:p>
                      <a:pPr>
                        <a:defRPr sz="1200" b="1">
                          <a:solidFill>
                            <a:srgbClr val="F1F5F9"/>
                          </a:solidFill>
                        </a:defRPr>
                      </a:pPr>
                      <a:r>
                        <a:t>Integration wiring</a:t>
                      </a:r>
                    </a:p>
                  </a:txBody>
                  <a:tcPr>
                    <a:solidFill>
                      <a:srgbClr val="1E293B"/>
                    </a:solidFill>
                  </a:tcPr>
                </a:tc>
                <a:tc>
                  <a:txBody>
                    <a:bodyPr/>
                    <a:lstStyle/>
                    <a:p>
                      <a:pPr algn="ctr">
                        <a:defRPr sz="1200">
                          <a:solidFill>
                            <a:srgbClr val="F1F5F9"/>
                          </a:solidFill>
                        </a:defRPr>
                      </a:pPr>
                      <a:r>
                        <a:t>Each library has a different bootstrap mechanism (Spring beans, annotations, manual instantiation). Wiring all four patterns into a shared test harness means fighting multiple DI frameworks.</a:t>
                      </a:r>
                    </a:p>
                  </a:txBody>
                  <a:tcPr>
                    <a:solidFill>
                      <a:srgbClr val="1E293B"/>
                    </a:solidFill>
                  </a:tcPr>
                </a:tc>
              </a:tr>
              <a:tr h="342899">
                <a:tc>
                  <a:txBody>
                    <a:bodyPr/>
                    <a:lstStyle/>
                    <a:p>
                      <a:pPr>
                        <a:defRPr sz="1200" b="1">
                          <a:solidFill>
                            <a:srgbClr val="F1F5F9"/>
                          </a:solidFill>
                        </a:defRPr>
                      </a:pPr>
                      <a:r>
                        <a:t>Fault injection mismatch</a:t>
                      </a:r>
                    </a:p>
                  </a:txBody>
                  <a:tcPr/>
                </a:tc>
                <a:tc>
                  <a:txBody>
                    <a:bodyPr/>
                    <a:lstStyle/>
                    <a:p>
                      <a:pPr algn="ctr">
                        <a:defRPr sz="1200">
                          <a:solidFill>
                            <a:srgbClr val="F1F5F9"/>
                          </a:solidFill>
                        </a:defRPr>
                      </a:pPr>
                      <a:r>
                        <a:t>Libraries' fault semantics differ wildly. Hystrix uses timeout-and-retry; Resilience4j separates timeout, retry, and circuit-breaker as independent middleware layers. Comparable comparisons require custom adapter code introducing bugs.</a:t>
                      </a:r>
                    </a:p>
                  </a:txBody>
                  <a:tcPr/>
                </a:tc>
              </a:tr>
              <a:tr h="342899">
                <a:tc>
                  <a:txBody>
                    <a:bodyPr/>
                    <a:lstStyle/>
                    <a:p>
                      <a:pPr>
                        <a:defRPr sz="1200" b="1">
                          <a:solidFill>
                            <a:srgbClr val="F1F5F9"/>
                          </a:solidFill>
                        </a:defRPr>
                      </a:pPr>
                      <a:r>
                        <a:t>Telemetry opacity</a:t>
                      </a:r>
                    </a:p>
                  </a:txBody>
                  <a:tcPr>
                    <a:solidFill>
                      <a:srgbClr val="1E293B"/>
                    </a:solidFill>
                  </a:tcPr>
                </a:tc>
                <a:tc>
                  <a:txBody>
                    <a:bodyPr/>
                    <a:lstStyle/>
                    <a:p>
                      <a:pPr algn="ctr">
                        <a:defRPr sz="1200">
                          <a:solidFill>
                            <a:srgbClr val="F1F5F9"/>
                          </a:solidFill>
                        </a:defRPr>
                      </a:pPr>
                      <a:r>
                        <a:t>Library metrics are aggregated counters and histograms. Computing P99 latency properly requires raw per-request timestamps and status codes — extracting this from SOTA telemetry requires patching monitoring integrations.</a:t>
                      </a:r>
                    </a:p>
                  </a:txBody>
                  <a:tcPr>
                    <a:solidFill>
                      <a:srgbClr val="1E293B"/>
                    </a:solidFill>
                  </a:tcPr>
                </a:tc>
              </a:tr>
              <a:tr h="342904">
                <a:tc>
                  <a:txBody>
                    <a:bodyPr/>
                    <a:lstStyle/>
                    <a:p>
                      <a:pPr>
                        <a:defRPr sz="1200" b="1">
                          <a:solidFill>
                            <a:srgbClr val="F1F5F9"/>
                          </a:solidFill>
                        </a:defRPr>
                      </a:pPr>
                      <a:r>
                        <a:t>Overhead distortion</a:t>
                      </a:r>
                    </a:p>
                  </a:txBody>
                  <a:tcPr/>
                </a:tc>
                <a:tc>
                  <a:txBody>
                    <a:bodyPr/>
                    <a:lstStyle/>
                    <a:p>
                      <a:pPr algn="ctr">
                        <a:defRPr sz="1200">
                          <a:solidFill>
                            <a:srgbClr val="F1F5F9"/>
                          </a:solidFill>
                        </a:defRPr>
                      </a:pPr>
                      <a:r>
                        <a:t>Production libraries add substantial per-call overhead from thread pooling and metric recording. This distorts latency measurements at scale.</a:t>
                      </a:r>
                    </a:p>
                  </a:txBody>
                  <a:tcPr/>
                </a:tc>
              </a:tr>
            </a:tbl>
          </a:graphicData>
        </a:graphic>
      </p:graphicFrame>
      <p:sp>
        <p:nvSpPr>
          <p:cNvPr id="7" name="TextBox 6"/>
          <p:cNvSpPr txBox="1"/>
          <p:nvPr/>
        </p:nvSpPr>
        <p:spPr>
          <a:xfrm>
            <a:off x="731520" y="3749039"/>
            <a:ext cx="10698480" cy="5029200"/>
          </a:xfrm>
          <a:prstGeom prst="rect">
            <a:avLst/>
          </a:prstGeom>
          <a:noFill/>
        </p:spPr>
        <p:txBody>
          <a:bodyPr wrap="square">
            <a:spAutoFit/>
          </a:bodyPr>
          <a:lstStyle/>
          <a:p>
            <a:pPr>
              <a:spcAft>
                <a:spcPts val="800"/>
              </a:spcAft>
            </a:pPr>
            <a:r>
              <a:rPr sz="1800">
                <a:solidFill>
                  <a:srgbClr val="94A3B8"/>
                </a:solidFill>
              </a:rPr>
              <a:t>Small changes do not suffice. Full observability and cross-pattern comparability require building from scratch.</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5. Solution Approach</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Our solution addresses the evaluation gap through </a:t>
            </a:r>
            <a:r>
              <a:rPr sz="1800" b="1">
                <a:solidFill>
                  <a:srgbClr val="B8CEF5"/>
                </a:solidFill>
              </a:rPr>
              <a:t>three complementary approaches</a:t>
            </a:r>
            <a:r>
              <a:rPr sz="1800">
                <a:solidFill>
                  <a:srgbClr val="94A3B8"/>
                </a:solidFill>
              </a:rPr>
              <a:t>, satisfying all three required categories:</a:t>
            </a:r>
          </a:p>
        </p:txBody>
      </p:sp>
      <p:graphicFrame>
        <p:nvGraphicFramePr>
          <p:cNvPr id="6" name="Table 5"/>
          <p:cNvGraphicFramePr>
            <a:graphicFrameLocks noGrp="1"/>
          </p:cNvGraphicFramePr>
          <p:nvPr/>
        </p:nvGraphicFramePr>
        <p:xfrm>
          <a:off x="731520" y="1554480"/>
          <a:ext cx="10698480" cy="1737360"/>
        </p:xfrm>
        <a:graphic>
          <a:graphicData uri="http://schemas.openxmlformats.org/drawingml/2006/table">
            <a:tbl>
              <a:tblPr firstRow="1" bandRow="1">
                <a:tableStyleId>{5C22544A-7EE6-4342-B048-85BDC9FD1C3A}</a:tableStyleId>
              </a:tblPr>
              <a:tblGrid>
                <a:gridCol w="3566160"/>
                <a:gridCol w="3566160"/>
                <a:gridCol w="3566160"/>
              </a:tblGrid>
              <a:tr h="347472">
                <a:tc>
                  <a:txBody>
                    <a:bodyPr/>
                    <a:lstStyle/>
                    <a:p>
                      <a:pPr>
                        <a:defRPr sz="1300" b="1">
                          <a:solidFill>
                            <a:srgbClr val="F1F5F9"/>
                          </a:solidFill>
                        </a:defRPr>
                      </a:pPr>
                      <a:r>
                        <a:t>Type</a:t>
                      </a:r>
                    </a:p>
                  </a:txBody>
                  <a:tcPr>
                    <a:solidFill>
                      <a:srgbClr val="1E3A8A"/>
                    </a:solidFill>
                  </a:tcPr>
                </a:tc>
                <a:tc>
                  <a:txBody>
                    <a:bodyPr/>
                    <a:lstStyle/>
                    <a:p>
                      <a:pPr algn="ctr">
                        <a:defRPr sz="1300" b="1">
                          <a:solidFill>
                            <a:srgbClr val="F1F5F9"/>
                          </a:solidFill>
                        </a:defRPr>
                      </a:pPr>
                      <a:r>
                        <a:t>How We Deliver It</a:t>
                      </a:r>
                    </a:p>
                  </a:txBody>
                  <a:tcPr>
                    <a:solidFill>
                      <a:srgbClr val="1E3A8A"/>
                    </a:solidFill>
                  </a:tcPr>
                </a:tc>
                <a:tc>
                  <a:txBody>
                    <a:bodyPr/>
                    <a:lstStyle/>
                    <a:p>
                      <a:pPr algn="ctr">
                        <a:defRPr sz="1300" b="1">
                          <a:solidFill>
                            <a:srgbClr val="F1F5F9"/>
                          </a:solidFill>
                        </a:defRPr>
                      </a:pPr>
                      <a:r>
                        <a:t>Evidence</a:t>
                      </a:r>
                    </a:p>
                  </a:txBody>
                  <a:tcPr>
                    <a:solidFill>
                      <a:srgbClr val="1E3A8A"/>
                    </a:solidFill>
                  </a:tcPr>
                </a:tc>
              </a:tr>
              <a:tr h="347472">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7472">
                <a:tc>
                  <a:txBody>
                    <a:bodyPr/>
                    <a:lstStyle/>
                    <a:p>
                      <a:pPr>
                        <a:defRPr sz="1200" b="1">
                          <a:solidFill>
                            <a:srgbClr val="F1F5F9"/>
                          </a:solidFill>
                        </a:defRPr>
                      </a:pPr>
                      <a:r>
                        <a:t>**Simulation / Real Implementation**</a:t>
                      </a:r>
                    </a:p>
                  </a:txBody>
                  <a:tcPr>
                    <a:solidFill>
                      <a:srgbClr val="1E293B"/>
                    </a:solidFill>
                  </a:tcPr>
                </a:tc>
                <a:tc>
                  <a:txBody>
                    <a:bodyPr/>
                    <a:lstStyle/>
                    <a:p>
                      <a:pPr algn="ctr">
                        <a:defRPr sz="1200">
                          <a:solidFill>
                            <a:srgbClr val="F1F5F9"/>
                          </a:solidFill>
                        </a:defRPr>
                      </a:pPr>
                      <a:r>
                        <a:t>In-process Python experiment (~750 lines) implementing retry, jitter, circuit breaker, and bulkhead isolation as composable decorators around HTTP calls</a:t>
                      </a:r>
                    </a:p>
                  </a:txBody>
                  <a:tcPr>
                    <a:solidFill>
                      <a:srgbClr val="1E293B"/>
                    </a:solidFill>
                  </a:tcPr>
                </a:tc>
                <a:tc>
                  <a:txBody>
                    <a:bodyPr/>
                    <a:lstStyle/>
                    <a:p>
                      <a:pPr algn="ctr">
                        <a:defRPr sz="1200">
                          <a:solidFill>
                            <a:srgbClr val="F1F5F9"/>
                          </a:solidFill>
                        </a:defRPr>
                      </a:pPr>
                      <a:r>
                        <a:t>Runnable framework produces quantified output in minutes</a:t>
                      </a:r>
                    </a:p>
                  </a:txBody>
                  <a:tcPr>
                    <a:solidFill>
                      <a:srgbClr val="1E293B"/>
                    </a:solidFill>
                  </a:tcPr>
                </a:tc>
              </a:tr>
              <a:tr h="347472">
                <a:tc>
                  <a:txBody>
                    <a:bodyPr/>
                    <a:lstStyle/>
                    <a:p>
                      <a:pPr>
                        <a:defRPr sz="1200" b="1">
                          <a:solidFill>
                            <a:srgbClr val="F1F5F9"/>
                          </a:solidFill>
                        </a:defRPr>
                      </a:pPr>
                      <a:r>
                        <a:t>**Empirical Study**</a:t>
                      </a:r>
                    </a:p>
                  </a:txBody>
                  <a:tcPr/>
                </a:tc>
                <a:tc>
                  <a:txBody>
                    <a:bodyPr/>
                    <a:lstStyle/>
                    <a:p>
                      <a:pPr algn="ctr">
                        <a:defRPr sz="1200">
                          <a:solidFill>
                            <a:srgbClr val="F1F5F9"/>
                          </a:solidFill>
                        </a:defRPr>
                      </a:pPr>
                      <a:r>
                        <a:t>Four configurations compared head-to-head under identical fault conditions with measurable output (percentile latency, error rate, throughput)</a:t>
                      </a:r>
                    </a:p>
                  </a:txBody>
                  <a:tcPr/>
                </a:tc>
                <a:tc>
                  <a:txBody>
                    <a:bodyPr/>
                    <a:lstStyle/>
                    <a:p>
                      <a:pPr algn="ctr">
                        <a:defRPr sz="1200">
                          <a:solidFill>
                            <a:srgbClr val="F1F5F9"/>
                          </a:solidFill>
                        </a:defRPr>
                      </a:pPr>
                      <a:r>
                        <a:t>Published results tables with raw per-request JSON data</a:t>
                      </a:r>
                    </a:p>
                  </a:txBody>
                  <a:tcPr/>
                </a:tc>
              </a:tr>
              <a:tr h="347472">
                <a:tc>
                  <a:txBody>
                    <a:bodyPr/>
                    <a:lstStyle/>
                    <a:p>
                      <a:pPr>
                        <a:defRPr sz="1200" b="1">
                          <a:solidFill>
                            <a:srgbClr val="F1F5F9"/>
                          </a:solidFill>
                        </a:defRPr>
                      </a:pPr>
                      <a:r>
                        <a:t>**Theoretical Analysis**</a:t>
                      </a:r>
                    </a:p>
                  </a:txBody>
                  <a:tcPr>
                    <a:solidFill>
                      <a:srgbClr val="1E293B"/>
                    </a:solidFill>
                  </a:tcPr>
                </a:tc>
                <a:tc>
                  <a:txBody>
                    <a:bodyPr/>
                    <a:lstStyle/>
                    <a:p>
                      <a:pPr algn="ctr">
                        <a:defRPr sz="1200">
                          <a:solidFill>
                            <a:srgbClr val="F1F5F9"/>
                          </a:solidFill>
                        </a:defRPr>
                      </a:pPr>
                      <a:r>
                        <a:t>Causal explanation of why naive retry outperformed jitter + CB under our fault schedule — derived from burst timing analysis and failure accumulation dynamics</a:t>
                      </a:r>
                    </a:p>
                  </a:txBody>
                  <a:tcPr>
                    <a:solidFill>
                      <a:srgbClr val="1E293B"/>
                    </a:solidFill>
                  </a:tcPr>
                </a:tc>
                <a:tc>
                  <a:txBody>
                    <a:bodyPr/>
                    <a:lstStyle/>
                    <a:p>
                      <a:pPr algn="ctr">
                        <a:defRPr sz="1200">
                          <a:solidFill>
                            <a:srgbClr val="F1F5F9"/>
                          </a:solidFill>
                        </a:defRPr>
                      </a:pPr>
                      <a:r>
                        <a:t>Explains counterintuitive findings in Section 12</a:t>
                      </a:r>
                    </a:p>
                  </a:txBody>
                  <a:tcPr>
                    <a:solidFill>
                      <a:srgbClr val="1E293B"/>
                    </a:solidFill>
                  </a:tcPr>
                </a:tc>
              </a:tr>
            </a:tbl>
          </a:graphicData>
        </a:graphic>
      </p:graphicFrame>
      <p:sp>
        <p:nvSpPr>
          <p:cNvPr id="7" name="TextBox 6"/>
          <p:cNvSpPr txBox="1"/>
          <p:nvPr/>
        </p:nvSpPr>
        <p:spPr>
          <a:xfrm>
            <a:off x="731520" y="3429000"/>
            <a:ext cx="10698480" cy="5029200"/>
          </a:xfrm>
          <a:prstGeom prst="rect">
            <a:avLst/>
          </a:prstGeom>
          <a:noFill/>
        </p:spPr>
        <p:txBody>
          <a:bodyPr wrap="square">
            <a:spAutoFit/>
          </a:bodyPr>
          <a:lstStyle/>
          <a:p>
            <a:pPr>
              <a:spcAft>
                <a:spcPts val="800"/>
              </a:spcAft>
            </a:pPr>
            <a:r>
              <a:rPr sz="1800">
                <a:solidFill>
                  <a:srgbClr val="94A3B8"/>
                </a:solidFill>
              </a:rPr>
              <a:t>A runnable experiment is both simulation and empirical validation in one artifact.</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6. Literature Review &amp; Benchmark Selection</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Three reference studies inform this work:</a:t>
            </a:r>
          </a:p>
        </p:txBody>
      </p:sp>
      <p:graphicFrame>
        <p:nvGraphicFramePr>
          <p:cNvPr id="6" name="Table 5"/>
          <p:cNvGraphicFramePr>
            <a:graphicFrameLocks noGrp="1"/>
          </p:cNvGraphicFramePr>
          <p:nvPr/>
        </p:nvGraphicFramePr>
        <p:xfrm>
          <a:off x="731520" y="1554480"/>
          <a:ext cx="10698480" cy="1737360"/>
        </p:xfrm>
        <a:graphic>
          <a:graphicData uri="http://schemas.openxmlformats.org/drawingml/2006/table">
            <a:tbl>
              <a:tblPr firstRow="1" bandRow="1">
                <a:tableStyleId>{5C22544A-7EE6-4342-B048-85BDC9FD1C3A}</a:tableStyleId>
              </a:tblPr>
              <a:tblGrid>
                <a:gridCol w="3566160"/>
                <a:gridCol w="3566160"/>
                <a:gridCol w="3566160"/>
              </a:tblGrid>
              <a:tr h="347472">
                <a:tc>
                  <a:txBody>
                    <a:bodyPr/>
                    <a:lstStyle/>
                    <a:p>
                      <a:pPr>
                        <a:defRPr sz="1300" b="1">
                          <a:solidFill>
                            <a:srgbClr val="F1F5F9"/>
                          </a:solidFill>
                        </a:defRPr>
                      </a:pPr>
                      <a:r>
                        <a:t>Study</a:t>
                      </a:r>
                    </a:p>
                  </a:txBody>
                  <a:tcPr>
                    <a:solidFill>
                      <a:srgbClr val="1E3A8A"/>
                    </a:solidFill>
                  </a:tcPr>
                </a:tc>
                <a:tc>
                  <a:txBody>
                    <a:bodyPr/>
                    <a:lstStyle/>
                    <a:p>
                      <a:pPr algn="ctr">
                        <a:defRPr sz="1300" b="1">
                          <a:solidFill>
                            <a:srgbClr val="F1F5F9"/>
                          </a:solidFill>
                        </a:defRPr>
                      </a:pPr>
                      <a:r>
                        <a:t>Methodology</a:t>
                      </a:r>
                    </a:p>
                  </a:txBody>
                  <a:tcPr>
                    <a:solidFill>
                      <a:srgbClr val="1E3A8A"/>
                    </a:solidFill>
                  </a:tcPr>
                </a:tc>
                <a:tc>
                  <a:txBody>
                    <a:bodyPr/>
                    <a:lstStyle/>
                    <a:p>
                      <a:pPr algn="ctr">
                        <a:defRPr sz="1300" b="1">
                          <a:solidFill>
                            <a:srgbClr val="F1F5F9"/>
                          </a:solidFill>
                        </a:defRPr>
                      </a:pPr>
                      <a:r>
                        <a:t>Relevance</a:t>
                      </a:r>
                    </a:p>
                  </a:txBody>
                  <a:tcPr>
                    <a:solidFill>
                      <a:srgbClr val="1E3A8A"/>
                    </a:solidFill>
                  </a:tcPr>
                </a:tc>
              </a:tr>
              <a:tr h="347472">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7472">
                <a:tc>
                  <a:txBody>
                    <a:bodyPr/>
                    <a:lstStyle/>
                    <a:p>
                      <a:pPr>
                        <a:defRPr sz="1200" b="1">
                          <a:solidFill>
                            <a:srgbClr val="F1F5F9"/>
                          </a:solidFill>
                        </a:defRPr>
                      </a:pPr>
                      <a:r>
                        <a:t>**Mohammad (2025)**</a:t>
                      </a:r>
                    </a:p>
                  </a:txBody>
                  <a:tcPr>
                    <a:solidFill>
                      <a:srgbClr val="1E293B"/>
                    </a:solidFill>
                  </a:tcPr>
                </a:tc>
                <a:tc>
                  <a:txBody>
                    <a:bodyPr/>
                    <a:lstStyle/>
                    <a:p>
                      <a:pPr algn="ctr">
                        <a:defRPr sz="1200">
                          <a:solidFill>
                            <a:srgbClr val="F1F5F9"/>
                          </a:solidFill>
                        </a:defRPr>
                      </a:pPr>
                      <a:r>
                        <a:t>PRISMA-guided systematic review of 412 papers → 26 studies selected; ran experiments at 200 req/s for 60 s with latency ramp 300→1500 ms using a separate service host. Published summary findings focused primarily on literature synthesis.</a:t>
                      </a:r>
                    </a:p>
                  </a:txBody>
                  <a:tcPr>
                    <a:solidFill>
                      <a:srgbClr val="1E293B"/>
                    </a:solidFill>
                  </a:tcPr>
                </a:tc>
                <a:tc>
                  <a:txBody>
                    <a:bodyPr/>
                    <a:lstStyle/>
                    <a:p>
                      <a:pPr algn="ctr">
                        <a:defRPr sz="1200">
                          <a:solidFill>
                            <a:srgbClr val="F1F5F9"/>
                          </a:solidFill>
                        </a:defRPr>
                      </a:pPr>
                      <a:r>
                        <a:t>Primary benchmark — identical fault schedule design, same four configurations tested</a:t>
                      </a:r>
                    </a:p>
                  </a:txBody>
                  <a:tcPr>
                    <a:solidFill>
                      <a:srgbClr val="1E293B"/>
                    </a:solidFill>
                  </a:tcPr>
                </a:tc>
              </a:tr>
              <a:tr h="347472">
                <a:tc>
                  <a:txBody>
                    <a:bodyPr/>
                    <a:lstStyle/>
                    <a:p>
                      <a:pPr>
                        <a:defRPr sz="1200" b="1">
                          <a:solidFill>
                            <a:srgbClr val="F1F5F9"/>
                          </a:solidFill>
                        </a:defRPr>
                      </a:pPr>
                      <a:r>
                        <a:t>**Giri &amp; Patel (2025)**</a:t>
                      </a:r>
                    </a:p>
                  </a:txBody>
                  <a:tcPr/>
                </a:tc>
                <a:tc>
                  <a:txBody>
                    <a:bodyPr/>
                    <a:lstStyle/>
                    <a:p>
                      <a:pPr algn="ctr">
                        <a:defRPr sz="1200">
                          <a:solidFill>
                            <a:srgbClr val="F1F5F9"/>
                          </a:solidFill>
                        </a:defRPr>
                      </a:pPr>
                      <a:r>
                        <a:t>Survey of 200+ cloud failure incidents cataloguing anti-patterns (uncontrolled retries, no backoff, missing circuit breakers)</a:t>
                      </a:r>
                    </a:p>
                  </a:txBody>
                  <a:tcPr/>
                </a:tc>
                <a:tc>
                  <a:txBody>
                    <a:bodyPr/>
                    <a:lstStyle/>
                    <a:p>
                      <a:pPr algn="ctr">
                        <a:defRPr sz="1200">
                          <a:solidFill>
                            <a:srgbClr val="F1F5F9"/>
                          </a:solidFill>
                        </a:defRPr>
                      </a:pPr>
                      <a:r>
                        <a:t>Causal link between retry storms and cascading failures in practice</a:t>
                      </a:r>
                    </a:p>
                  </a:txBody>
                  <a:tcPr/>
                </a:tc>
              </a:tr>
              <a:tr h="347472">
                <a:tc>
                  <a:txBody>
                    <a:bodyPr/>
                    <a:lstStyle/>
                    <a:p>
                      <a:pPr>
                        <a:defRPr sz="1200" b="1">
                          <a:solidFill>
                            <a:srgbClr val="F1F5F9"/>
                          </a:solidFill>
                        </a:defRPr>
                      </a:pPr>
                      <a:r>
                        <a:t>**Fowler (2014)**</a:t>
                      </a:r>
                    </a:p>
                  </a:txBody>
                  <a:tcPr>
                    <a:solidFill>
                      <a:srgbClr val="1E293B"/>
                    </a:solidFill>
                  </a:tcPr>
                </a:tc>
                <a:tc>
                  <a:txBody>
                    <a:bodyPr/>
                    <a:lstStyle/>
                    <a:p>
                      <a:pPr algn="ctr">
                        <a:defRPr sz="1200">
                          <a:solidFill>
                            <a:srgbClr val="F1F5F9"/>
                          </a:solidFill>
                        </a:defRPr>
                      </a:pPr>
                      <a:r>
                        <a:t>Pattern catalog defining retry, circuit breaker, bulkhead isolation, timeout, rate limiting</a:t>
                      </a:r>
                    </a:p>
                  </a:txBody>
                  <a:tcPr>
                    <a:solidFill>
                      <a:srgbClr val="1E293B"/>
                    </a:solidFill>
                  </a:tcPr>
                </a:tc>
                <a:tc>
                  <a:txBody>
                    <a:bodyPr/>
                    <a:lstStyle/>
                    <a:p>
                      <a:pPr algn="ctr">
                        <a:defRPr sz="1200">
                          <a:solidFill>
                            <a:srgbClr val="F1F5F9"/>
                          </a:solidFill>
                        </a:defRPr>
                      </a:pPr>
                      <a:r>
                        <a:t>Canonical design specifications for our implementations</a:t>
                      </a:r>
                    </a:p>
                  </a:txBody>
                  <a:tcPr>
                    <a:solidFill>
                      <a:srgbClr val="1E293B"/>
                    </a:solidFill>
                  </a:tcPr>
                </a:tc>
              </a:tr>
            </a:tbl>
          </a:graphicData>
        </a:graphic>
      </p:graphicFrame>
      <p:sp>
        <p:nvSpPr>
          <p:cNvPr id="7" name="TextBox 6"/>
          <p:cNvSpPr txBox="1"/>
          <p:nvPr/>
        </p:nvSpPr>
        <p:spPr>
          <a:xfrm>
            <a:off x="731520" y="3429000"/>
            <a:ext cx="10698480" cy="5029200"/>
          </a:xfrm>
          <a:prstGeom prst="rect">
            <a:avLst/>
          </a:prstGeom>
          <a:noFill/>
        </p:spPr>
        <p:txBody>
          <a:bodyPr wrap="square">
            <a:spAutoFit/>
          </a:bodyPr>
          <a:lstStyle/>
          <a:p>
            <a:pPr>
              <a:spcAft>
                <a:spcPts val="800"/>
              </a:spcAft>
            </a:pPr>
            <a:r>
              <a:rPr sz="1800">
                <a:solidFill>
                  <a:srgbClr val="94A3B8"/>
                </a:solidFill>
              </a:rPr>
              <a:t>### Mohammad (2025) As Our Primary Benchmark</a:t>
            </a:r>
          </a:p>
          <a:p>
            <a:pPr>
              <a:spcAft>
                <a:spcPts val="800"/>
              </a:spcAft>
            </a:pPr>
            <a:r>
              <a:rPr sz="1800">
                <a:solidFill>
                  <a:srgbClr val="94A3B8"/>
                </a:solidFill>
              </a:rPr>
              <a:t>Shared ground: identical fault profile, same configuration space, quantified results published in a peer-reviewed venue.</a:t>
            </a:r>
          </a:p>
          <a:p>
            <a:pPr>
              <a:spcAft>
                <a:spcPts val="800"/>
              </a:spcAft>
            </a:pPr>
            <a:r>
              <a:rPr sz="1800">
                <a:solidFill>
                  <a:srgbClr val="94A3B8"/>
                </a:solidFill>
              </a:rPr>
              <a:t>What our project adds: Mohammad provides high-level findings from their experiments. We provide an independently runnable implementation where researchers and engineers can reproduce the methodology, inspect the approach, and extend the experiment with new configurations or fault types. Where Mohammad establishes conclusions about *that* resilience patterns help, we show *how* they help under transparent parameters.</a:t>
            </a:r>
          </a:p>
          <a:p>
            <a:pPr>
              <a:spcAft>
                <a:spcPts val="800"/>
              </a:spcAft>
            </a:pPr>
            <a:r>
              <a:rPr sz="1800">
                <a:solidFill>
                  <a:srgbClr val="94A3B8"/>
                </a:solidFill>
              </a:rPr>
              <a:t>Complementary roles: their systematic review surveys and synthesizes existing research; our framework operates as an operational tool for empirical validation at a more granular level. Together they address both "what does the literature say?" and "does this work in my environment?"</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7. Experimental Design — System Architecture</a:t>
            </a:r>
          </a:p>
        </p:txBody>
      </p:sp>
      <p:sp>
        <p:nvSpPr>
          <p:cNvPr id="5" name="TextBox 4"/>
          <p:cNvSpPr txBox="1"/>
          <p:nvPr/>
        </p:nvSpPr>
        <p:spPr>
          <a:xfrm>
            <a:off x="731520" y="1280160"/>
            <a:ext cx="10698480" cy="2057400"/>
          </a:xfrm>
          <a:prstGeom prst="rect">
            <a:avLst/>
          </a:prstGeom>
          <a:noFill/>
        </p:spPr>
        <p:txBody>
          <a:bodyPr wrap="square">
            <a:spAutoFit/>
          </a:bodyPr>
          <a:lstStyle/>
          <a:p>
            <a:pPr>
              <a:spcAft>
                <a:spcPts val="600"/>
              </a:spcAft>
            </a:pPr>
            <a:r>
              <a:rPr sz="1700">
                <a:solidFill>
                  <a:srgbClr val="94A3B8"/>
                </a:solidFill>
              </a:rPr>
              <a:t>```</a:t>
            </a:r>
          </a:p>
          <a:p>
            <a:pPr>
              <a:spcAft>
                <a:spcPts val="600"/>
              </a:spcAft>
            </a:pPr>
            <a:r>
              <a:rPr sz="1700">
                <a:solidFill>
                  <a:srgbClr val="94A3B8"/>
                </a:solidFill>
              </a:rPr>
              <a:t>Load Generator ──▶ Client Patterns (Retry / Jitter / CB) ──▶ Flask Service :5001</a:t>
            </a:r>
          </a:p>
          <a:p>
            <a:pPr>
              <a:spcAft>
                <a:spcPts val="600"/>
              </a:spcAft>
            </a:pPr>
            <a:r>
              <a:rPr sz="1700">
                <a:solidFill>
                  <a:srgbClr val="94A3B8"/>
                </a:solidFill>
              </a:rPr>
              <a:t>│                                       ▲</a:t>
            </a:r>
          </a:p>
          <a:p>
            <a:pPr>
              <a:spcAft>
                <a:spcPts val="600"/>
              </a:spcAft>
            </a:pPr>
            <a:r>
              <a:rPr sz="1700">
                <a:solidFill>
                  <a:srgbClr val="94A3B8"/>
                </a:solidFill>
              </a:rPr>
              <a:t>▼                                       │</a:t>
            </a:r>
          </a:p>
          <a:p>
            <a:pPr>
              <a:spcAft>
                <a:spcPts val="600"/>
              </a:spcAft>
            </a:pPr>
            <a:r>
              <a:rPr sz="1700">
                <a:solidFill>
                  <a:srgbClr val="94A3B8"/>
                </a:solidFill>
              </a:rPr>
              <a:t>Metrics + Report                        Fault Injector</a:t>
            </a:r>
          </a:p>
          <a:p>
            <a:pPr>
              <a:spcAft>
                <a:spcPts val="600"/>
              </a:spcAft>
            </a:pPr>
            <a:r>
              <a:rPr sz="1700">
                <a:solidFill>
                  <a:srgbClr val="94A3B8"/>
                </a:solidFill>
              </a:rPr>
              <a:t>(Percentiles, tables, charts)           (Latency ramp schedule)</a:t>
            </a:r>
          </a:p>
          <a:p>
            <a:pPr>
              <a:spcAft>
                <a:spcPts val="600"/>
              </a:spcAft>
            </a:pPr>
            <a:r>
              <a:rPr sz="1700">
                <a:solidFill>
                  <a:srgbClr val="94A3B8"/>
                </a:solidFill>
              </a:rPr>
              <a:t>```</a:t>
            </a:r>
          </a:p>
          <a:p>
            <a:pPr>
              <a:spcAft>
                <a:spcPts val="600"/>
              </a:spcAft>
            </a:pPr>
            <a:r>
              <a:rPr sz="1700">
                <a:solidFill>
                  <a:srgbClr val="94A3B8"/>
                </a:solidFill>
              </a:rPr>
              <a:t>All components run in-process on localhost — no Docker, no Kubernetes, no external infrastructure required.</a:t>
            </a:r>
          </a:p>
          <a:p>
            <a:pPr>
              <a:spcAft>
                <a:spcPts val="600"/>
              </a:spcAft>
            </a:pPr>
            <a:r>
              <a:rPr sz="1700">
                <a:solidFill>
                  <a:srgbClr val="94A3B8"/>
                </a:solidFill>
              </a:rPr>
              <a:t/>
            </a:r>
            <a:r>
              <a:rPr sz="1700" b="1">
                <a:solidFill>
                  <a:srgbClr val="B8CEF5"/>
                </a:solidFill>
              </a:rPr>
              <a:t>Design principle:</a:t>
            </a:r>
            <a:r>
              <a:rPr sz="1700">
                <a:solidFill>
                  <a:srgbClr val="94A3B8"/>
                </a:solidFill>
              </a:rPr>
              <a:t> keep everything swappable and observable. Each resilience pattern is a thin decorator around a raw HTTP call. The fault injector configures degradation live via POST. Metrics compute percentiles and throughput per configuration.</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8. Experimental Design — Client Configurations Tested</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Four strategies compared head-to-head under identical fault conditions:</a:t>
            </a:r>
          </a:p>
        </p:txBody>
      </p:sp>
      <p:graphicFrame>
        <p:nvGraphicFramePr>
          <p:cNvPr id="6" name="Table 5"/>
          <p:cNvGraphicFramePr>
            <a:graphicFrameLocks noGrp="1"/>
          </p:cNvGraphicFramePr>
          <p:nvPr/>
        </p:nvGraphicFramePr>
        <p:xfrm>
          <a:off x="731520" y="1554480"/>
          <a:ext cx="10698480" cy="2057399"/>
        </p:xfrm>
        <a:graphic>
          <a:graphicData uri="http://schemas.openxmlformats.org/drawingml/2006/table">
            <a:tbl>
              <a:tblPr firstRow="1" bandRow="1">
                <a:tableStyleId>{5C22544A-7EE6-4342-B048-85BDC9FD1C3A}</a:tableStyleId>
              </a:tblPr>
              <a:tblGrid>
                <a:gridCol w="3566160"/>
                <a:gridCol w="3566160"/>
                <a:gridCol w="3566160"/>
              </a:tblGrid>
              <a:tr h="342899">
                <a:tc>
                  <a:txBody>
                    <a:bodyPr/>
                    <a:lstStyle/>
                    <a:p>
                      <a:pPr>
                        <a:defRPr sz="1300" b="1">
                          <a:solidFill>
                            <a:srgbClr val="F1F5F9"/>
                          </a:solidFill>
                        </a:defRPr>
                      </a:pPr>
                      <a:r>
                        <a:t>#</a:t>
                      </a:r>
                    </a:p>
                  </a:txBody>
                  <a:tcPr>
                    <a:solidFill>
                      <a:srgbClr val="1E3A8A"/>
                    </a:solidFill>
                  </a:tcPr>
                </a:tc>
                <a:tc>
                  <a:txBody>
                    <a:bodyPr/>
                    <a:lstStyle/>
                    <a:p>
                      <a:pPr algn="ctr">
                        <a:defRPr sz="1300" b="1">
                          <a:solidFill>
                            <a:srgbClr val="F1F5F9"/>
                          </a:solidFill>
                        </a:defRPr>
                      </a:pPr>
                      <a:r>
                        <a:t>Configuration</a:t>
                      </a:r>
                    </a:p>
                  </a:txBody>
                  <a:tcPr>
                    <a:solidFill>
                      <a:srgbClr val="1E3A8A"/>
                    </a:solidFill>
                  </a:tcPr>
                </a:tc>
                <a:tc>
                  <a:txBody>
                    <a:bodyPr/>
                    <a:lstStyle/>
                    <a:p>
                      <a:pPr algn="ctr">
                        <a:defRPr sz="1300" b="1">
                          <a:solidFill>
                            <a:srgbClr val="F1F5F9"/>
                          </a:solidFill>
                        </a:defRPr>
                      </a:pPr>
                      <a:r>
                        <a:t>Description</a:t>
                      </a:r>
                    </a:p>
                  </a:txBody>
                  <a:tcPr>
                    <a:solidFill>
                      <a:srgbClr val="1E3A8A"/>
                    </a:solidFill>
                  </a:tcPr>
                </a:tc>
              </a:tr>
              <a:tr h="34289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2899">
                <a:tc>
                  <a:txBody>
                    <a:bodyPr/>
                    <a:lstStyle/>
                    <a:p>
                      <a:pPr>
                        <a:defRPr sz="1200" b="1">
                          <a:solidFill>
                            <a:srgbClr val="F1F5F9"/>
                          </a:solidFill>
                        </a:defRPr>
                      </a:pPr>
                      <a:r>
                        <a:t>1</a:t>
                      </a:r>
                    </a:p>
                  </a:txBody>
                  <a:tcPr>
                    <a:solidFill>
                      <a:srgbClr val="1E293B"/>
                    </a:solidFill>
                  </a:tcPr>
                </a:tc>
                <a:tc>
                  <a:txBody>
                    <a:bodyPr/>
                    <a:lstStyle/>
                    <a:p>
                      <a:pPr algn="ctr">
                        <a:defRPr sz="1200">
                          <a:solidFill>
                            <a:srgbClr val="F1F5F9"/>
                          </a:solidFill>
                        </a:defRPr>
                      </a:pPr>
                      <a:r>
                        <a:t>**No retry**</a:t>
                      </a:r>
                    </a:p>
                  </a:txBody>
                  <a:tcPr>
                    <a:solidFill>
                      <a:srgbClr val="1E293B"/>
                    </a:solidFill>
                  </a:tcPr>
                </a:tc>
                <a:tc>
                  <a:txBody>
                    <a:bodyPr/>
                    <a:lstStyle/>
                    <a:p>
                      <a:pPr algn="ctr">
                        <a:defRPr sz="1200">
                          <a:solidFill>
                            <a:srgbClr val="F1F5F9"/>
                          </a:solidFill>
                        </a:defRPr>
                      </a:pPr>
                      <a:r>
                        <a:t>Baseline control. Direct HTTP calls with zero retry logic.</a:t>
                      </a:r>
                    </a:p>
                  </a:txBody>
                  <a:tcPr>
                    <a:solidFill>
                      <a:srgbClr val="1E293B"/>
                    </a:solidFill>
                  </a:tcPr>
                </a:tc>
              </a:tr>
              <a:tr h="342899">
                <a:tc>
                  <a:txBody>
                    <a:bodyPr/>
                    <a:lstStyle/>
                    <a:p>
                      <a:pPr>
                        <a:defRPr sz="1200" b="1">
                          <a:solidFill>
                            <a:srgbClr val="F1F5F9"/>
                          </a:solidFill>
                        </a:defRPr>
                      </a:pPr>
                      <a:r>
                        <a:t>2</a:t>
                      </a:r>
                    </a:p>
                  </a:txBody>
                  <a:tcPr/>
                </a:tc>
                <a:tc>
                  <a:txBody>
                    <a:bodyPr/>
                    <a:lstStyle/>
                    <a:p>
                      <a:pPr algn="ctr">
                        <a:defRPr sz="1200">
                          <a:solidFill>
                            <a:srgbClr val="F1F5F9"/>
                          </a:solidFill>
                        </a:defRPr>
                      </a:pPr>
                      <a:r>
                        <a:t>**Naive retry**</a:t>
                      </a:r>
                    </a:p>
                  </a:txBody>
                  <a:tcPr/>
                </a:tc>
                <a:tc>
                  <a:txBody>
                    <a:bodyPr/>
                    <a:lstStyle/>
                    <a:p>
                      <a:pPr algn="ctr">
                        <a:defRPr sz="1200">
                          <a:solidFill>
                            <a:srgbClr val="F1F5F9"/>
                          </a:solidFill>
                        </a:defRPr>
                      </a:pPr>
                      <a:r>
                        <a:t>3 attempts, fixed 500 ms delay between retries. Simplest retry strategy.</a:t>
                      </a:r>
                    </a:p>
                  </a:txBody>
                  <a:tcPr/>
                </a:tc>
              </a:tr>
              <a:tr h="342899">
                <a:tc>
                  <a:txBody>
                    <a:bodyPr/>
                    <a:lstStyle/>
                    <a:p>
                      <a:pPr>
                        <a:defRPr sz="1200" b="1">
                          <a:solidFill>
                            <a:srgbClr val="F1F5F9"/>
                          </a:solidFill>
                        </a:defRPr>
                      </a:pPr>
                      <a:r>
                        <a:t>3</a:t>
                      </a:r>
                    </a:p>
                  </a:txBody>
                  <a:tcPr>
                    <a:solidFill>
                      <a:srgbClr val="1E293B"/>
                    </a:solidFill>
                  </a:tcPr>
                </a:tc>
                <a:tc>
                  <a:txBody>
                    <a:bodyPr/>
                    <a:lstStyle/>
                    <a:p>
                      <a:pPr algn="ctr">
                        <a:defRPr sz="1200">
                          <a:solidFill>
                            <a:srgbClr val="F1F5F9"/>
                          </a:solidFill>
                        </a:defRPr>
                      </a:pPr>
                      <a:r>
                        <a:t>**Retry + jitter**</a:t>
                      </a:r>
                    </a:p>
                  </a:txBody>
                  <a:tcPr>
                    <a:solidFill>
                      <a:srgbClr val="1E293B"/>
                    </a:solidFill>
                  </a:tcPr>
                </a:tc>
                <a:tc>
                  <a:txBody>
                    <a:bodyPr/>
                    <a:lstStyle/>
                    <a:p>
                      <a:pPr algn="ctr">
                        <a:defRPr sz="1200">
                          <a:solidFill>
                            <a:srgbClr val="F1F5F9"/>
                          </a:solidFill>
                        </a:defRPr>
                      </a:pPr>
                      <a:r>
                        <a:t>3 attempts, exponential backoff (200ms base) with full jitter (uniform randomization within backoff window).</a:t>
                      </a:r>
                    </a:p>
                  </a:txBody>
                  <a:tcPr>
                    <a:solidFill>
                      <a:srgbClr val="1E293B"/>
                    </a:solidFill>
                  </a:tcPr>
                </a:tc>
              </a:tr>
              <a:tr h="342904">
                <a:tc>
                  <a:txBody>
                    <a:bodyPr/>
                    <a:lstStyle/>
                    <a:p>
                      <a:pPr>
                        <a:defRPr sz="1200" b="1">
                          <a:solidFill>
                            <a:srgbClr val="F1F5F9"/>
                          </a:solidFill>
                        </a:defRPr>
                      </a:pPr>
                      <a:r>
                        <a:t>4</a:t>
                      </a:r>
                    </a:p>
                  </a:txBody>
                  <a:tcPr/>
                </a:tc>
                <a:tc>
                  <a:txBody>
                    <a:bodyPr/>
                    <a:lstStyle/>
                    <a:p>
                      <a:pPr algn="ctr">
                        <a:defRPr sz="1200">
                          <a:solidFill>
                            <a:srgbClr val="F1F5F9"/>
                          </a:solidFill>
                        </a:defRPr>
                      </a:pPr>
                      <a:r>
                        <a:t>**Retry + jitter + Circuit Breaker**</a:t>
                      </a:r>
                    </a:p>
                  </a:txBody>
                  <a:tcPr/>
                </a:tc>
                <a:tc>
                  <a:txBody>
                    <a:bodyPr/>
                    <a:lstStyle/>
                    <a:p>
                      <a:pPr algn="ctr">
                        <a:defRPr sz="1200">
                          <a:solidFill>
                            <a:srgbClr val="F1F5F9"/>
                          </a:solidFill>
                        </a:defRPr>
                      </a:pPr>
                      <a:r>
                        <a:t>Same as #3 wrapped with circuit breaker: trips after 3 consecutive failures, half-open timeout 10 s, success threshold 2.</a:t>
                      </a:r>
                    </a:p>
                  </a:txBody>
                  <a:tcPr/>
                </a:tc>
              </a:tr>
            </a:tbl>
          </a:graphicData>
        </a:graphic>
      </p:graphicFrame>
      <p:sp>
        <p:nvSpPr>
          <p:cNvPr id="7" name="TextBox 6"/>
          <p:cNvSpPr txBox="1"/>
          <p:nvPr/>
        </p:nvSpPr>
        <p:spPr>
          <a:xfrm>
            <a:off x="731520" y="3749039"/>
            <a:ext cx="10698480" cy="5029200"/>
          </a:xfrm>
          <a:prstGeom prst="rect">
            <a:avLst/>
          </a:prstGeom>
          <a:noFill/>
        </p:spPr>
        <p:txBody>
          <a:bodyPr wrap="square">
            <a:spAutoFit/>
          </a:bodyPr>
          <a:lstStyle/>
          <a:p>
            <a:pPr>
              <a:spcAft>
                <a:spcPts val="800"/>
              </a:spcAft>
            </a:pPr>
            <a:r>
              <a:rPr sz="1800">
                <a:solidFill>
                  <a:srgbClr val="94A3B8"/>
                </a:solidFill>
              </a:rPr>
              <a:t>These represent the canonical progression recommended in industry literature (Fowler 2014).</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9. Experimental Design — Fault Injection Strategy</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Fault schedule (identical across all four configurations):</a:t>
            </a:r>
          </a:p>
        </p:txBody>
      </p:sp>
      <p:graphicFrame>
        <p:nvGraphicFramePr>
          <p:cNvPr id="6" name="Table 5"/>
          <p:cNvGraphicFramePr>
            <a:graphicFrameLocks noGrp="1"/>
          </p:cNvGraphicFramePr>
          <p:nvPr/>
        </p:nvGraphicFramePr>
        <p:xfrm>
          <a:off x="731520" y="1554480"/>
          <a:ext cx="10698480" cy="1417319"/>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354329">
                <a:tc>
                  <a:txBody>
                    <a:bodyPr/>
                    <a:lstStyle/>
                    <a:p>
                      <a:pPr>
                        <a:defRPr sz="1300" b="1">
                          <a:solidFill>
                            <a:srgbClr val="F1F5F9"/>
                          </a:solidFill>
                        </a:defRPr>
                      </a:pPr>
                      <a:r>
                        <a:t>Phase</a:t>
                      </a:r>
                    </a:p>
                  </a:txBody>
                  <a:tcPr>
                    <a:solidFill>
                      <a:srgbClr val="1E3A8A"/>
                    </a:solidFill>
                  </a:tcPr>
                </a:tc>
                <a:tc>
                  <a:txBody>
                    <a:bodyPr/>
                    <a:lstStyle/>
                    <a:p>
                      <a:pPr algn="ctr">
                        <a:defRPr sz="1300" b="1">
                          <a:solidFill>
                            <a:srgbClr val="F1F5F9"/>
                          </a:solidFill>
                        </a:defRPr>
                      </a:pPr>
                      <a:r>
                        <a:t>Duration</a:t>
                      </a:r>
                    </a:p>
                  </a:txBody>
                  <a:tcPr>
                    <a:solidFill>
                      <a:srgbClr val="1E3A8A"/>
                    </a:solidFill>
                  </a:tcPr>
                </a:tc>
                <a:tc>
                  <a:txBody>
                    <a:bodyPr/>
                    <a:lstStyle/>
                    <a:p>
                      <a:pPr algn="ctr">
                        <a:defRPr sz="1300" b="1">
                          <a:solidFill>
                            <a:srgbClr val="F1F5F9"/>
                          </a:solidFill>
                        </a:defRPr>
                      </a:pPr>
                      <a:r>
                        <a:t>Latency Injected</a:t>
                      </a:r>
                    </a:p>
                  </a:txBody>
                  <a:tcPr>
                    <a:solidFill>
                      <a:srgbClr val="1E3A8A"/>
                    </a:solidFill>
                  </a:tcPr>
                </a:tc>
                <a:tc>
                  <a:txBody>
                    <a:bodyPr/>
                    <a:lstStyle/>
                    <a:p>
                      <a:pPr algn="ctr">
                        <a:defRPr sz="1300" b="1">
                          <a:solidFill>
                            <a:srgbClr val="F1F5F9"/>
                          </a:solidFill>
                        </a:defRPr>
                      </a:pPr>
                      <a:r>
                        <a:t>Error Mode</a:t>
                      </a:r>
                    </a:p>
                  </a:txBody>
                  <a:tcPr>
                    <a:solidFill>
                      <a:srgbClr val="1E3A8A"/>
                    </a:solidFill>
                  </a:tcPr>
                </a:tc>
                <a:tc>
                  <a:txBody>
                    <a:bodyPr/>
                    <a:lstStyle/>
                    <a:p>
                      <a:pPr algn="ctr">
                        <a:defRPr sz="1300" b="1">
                          <a:solidFill>
                            <a:srgbClr val="F1F5F9"/>
                          </a:solidFill>
                        </a:defRPr>
                      </a:pPr>
                      <a:r>
                        <a:t>What It Models</a:t>
                      </a:r>
                    </a:p>
                  </a:txBody>
                  <a:tcPr>
                    <a:solidFill>
                      <a:srgbClr val="1E3A8A"/>
                    </a:solidFill>
                  </a:tcPr>
                </a:tc>
              </a:tr>
              <a:tr h="35432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54329">
                <a:tc>
                  <a:txBody>
                    <a:bodyPr/>
                    <a:lstStyle/>
                    <a:p>
                      <a:pPr>
                        <a:defRPr sz="1200" b="1">
                          <a:solidFill>
                            <a:srgbClr val="F1F5F9"/>
                          </a:solidFill>
                        </a:defRPr>
                      </a:pPr>
                      <a:r>
                        <a:t>Warm-up</a:t>
                      </a:r>
                    </a:p>
                  </a:txBody>
                  <a:tcPr>
                    <a:solidFill>
                      <a:srgbClr val="1E293B"/>
                    </a:solidFill>
                  </a:tcPr>
                </a:tc>
                <a:tc>
                  <a:txBody>
                    <a:bodyPr/>
                    <a:lstStyle/>
                    <a:p>
                      <a:pPr algn="ctr">
                        <a:defRPr sz="1200">
                          <a:solidFill>
                            <a:srgbClr val="F1F5F9"/>
                          </a:solidFill>
                        </a:defRPr>
                      </a:pPr>
                      <a:r>
                        <a:t>0–2 s</a:t>
                      </a:r>
                    </a:p>
                  </a:txBody>
                  <a:tcPr>
                    <a:solidFill>
                      <a:srgbClr val="1E293B"/>
                    </a:solidFill>
                  </a:tcPr>
                </a:tc>
                <a:tc>
                  <a:txBody>
                    <a:bodyPr/>
                    <a:lstStyle/>
                    <a:p>
                      <a:pPr algn="ctr">
                        <a:defRPr sz="1200">
                          <a:solidFill>
                            <a:srgbClr val="F1F5F9"/>
                          </a:solidFill>
                        </a:defRPr>
                      </a:pPr>
                      <a:r>
                        <a:t>200 ms</a:t>
                      </a:r>
                    </a:p>
                  </a:txBody>
                  <a:tcPr>
                    <a:solidFill>
                      <a:srgbClr val="1E293B"/>
                    </a:solidFill>
                  </a:tcPr>
                </a:tc>
                <a:tc>
                  <a:txBody>
                    <a:bodyPr/>
                    <a:lstStyle/>
                    <a:p>
                      <a:pPr algn="ctr">
                        <a:defRPr sz="1200">
                          <a:solidFill>
                            <a:srgbClr val="F1F5F9"/>
                          </a:solidFill>
                        </a:defRPr>
                      </a:pPr>
                      <a:r>
                        <a:t>N/A</a:t>
                      </a:r>
                    </a:p>
                  </a:txBody>
                  <a:tcPr>
                    <a:solidFill>
                      <a:srgbClr val="1E293B"/>
                    </a:solidFill>
                  </a:tcPr>
                </a:tc>
                <a:tc>
                  <a:txBody>
                    <a:bodyPr/>
                    <a:lstStyle/>
                    <a:p>
                      <a:pPr algn="ctr">
                        <a:defRPr sz="1200">
                          <a:solidFill>
                            <a:srgbClr val="F1F5F9"/>
                          </a:solidFill>
                        </a:defRPr>
                      </a:pPr>
                      <a:r>
                        <a:t>System stabilization before load begins</a:t>
                      </a:r>
                    </a:p>
                  </a:txBody>
                  <a:tcPr>
                    <a:solidFill>
                      <a:srgbClr val="1E293B"/>
                    </a:solidFill>
                  </a:tcPr>
                </a:tc>
              </a:tr>
              <a:tr h="354332">
                <a:tc>
                  <a:txBody>
                    <a:bodyPr/>
                    <a:lstStyle/>
                    <a:p>
                      <a:pPr>
                        <a:defRPr sz="1200" b="1">
                          <a:solidFill>
                            <a:srgbClr val="F1F5F9"/>
                          </a:solidFill>
                        </a:defRPr>
                      </a:pPr>
                      <a:r>
                        <a:t>Ramp</a:t>
                      </a:r>
                    </a:p>
                  </a:txBody>
                  <a:tcPr/>
                </a:tc>
                <a:tc>
                  <a:txBody>
                    <a:bodyPr/>
                    <a:lstStyle/>
                    <a:p>
                      <a:pPr algn="ctr">
                        <a:defRPr sz="1200">
                          <a:solidFill>
                            <a:srgbClr val="F1F5F9"/>
                          </a:solidFill>
                        </a:defRPr>
                      </a:pPr>
                      <a:r>
                        <a:t>2–30 s</a:t>
                      </a:r>
                    </a:p>
                  </a:txBody>
                  <a:tcPr/>
                </a:tc>
                <a:tc>
                  <a:txBody>
                    <a:bodyPr/>
                    <a:lstStyle/>
                    <a:p>
                      <a:pPr algn="ctr">
                        <a:defRPr sz="1200">
                          <a:solidFill>
                            <a:srgbClr val="F1F5F9"/>
                          </a:solidFill>
                        </a:defRPr>
                      </a:pPr>
                      <a:r>
                        <a:t>200 ms → 800 ms linearly</a:t>
                      </a:r>
                    </a:p>
                  </a:txBody>
                  <a:tcPr/>
                </a:tc>
                <a:tc>
                  <a:txBody>
                    <a:bodyPr/>
                    <a:lstStyle/>
                    <a:p>
                      <a:pPr algn="ctr">
                        <a:defRPr sz="1200">
                          <a:solidFill>
                            <a:srgbClr val="F1F5F9"/>
                          </a:solidFill>
                        </a:defRPr>
                      </a:pPr>
                      <a:r>
                        <a:t>burst_correlated</a:t>
                      </a:r>
                    </a:p>
                  </a:txBody>
                  <a:tcPr/>
                </a:tc>
                <a:tc>
                  <a:txBody>
                    <a:bodyPr/>
                    <a:lstStyle/>
                    <a:p>
                      <a:pPr algn="ctr">
                        <a:defRPr sz="1200">
                          <a:solidFill>
                            <a:srgbClr val="F1F5F9"/>
                          </a:solidFill>
                        </a:defRPr>
                      </a:pPr>
                      <a:r>
                        <a:t>Progressive service degradation</a:t>
                      </a:r>
                    </a:p>
                  </a:txBody>
                  <a:tcPr/>
                </a:tc>
              </a:tr>
            </a:tbl>
          </a:graphicData>
        </a:graphic>
      </p:graphicFrame>
      <p:sp>
        <p:nvSpPr>
          <p:cNvPr id="7" name="TextBox 6"/>
          <p:cNvSpPr txBox="1"/>
          <p:nvPr/>
        </p:nvSpPr>
        <p:spPr>
          <a:xfrm>
            <a:off x="731520" y="3108959"/>
            <a:ext cx="10698480" cy="5029200"/>
          </a:xfrm>
          <a:prstGeom prst="rect">
            <a:avLst/>
          </a:prstGeom>
          <a:noFill/>
        </p:spPr>
        <p:txBody>
          <a:bodyPr wrap="square">
            <a:spAutoFit/>
          </a:bodyPr>
          <a:lstStyle/>
          <a:p>
            <a:pPr>
              <a:spcAft>
                <a:spcPts val="800"/>
              </a:spcAft>
            </a:pPr>
            <a:r>
              <a:rPr sz="1800">
                <a:solidFill>
                  <a:srgbClr val="94A3B8"/>
                </a:solidFill>
              </a:rPr>
              <a:t/>
            </a:r>
            <a:r>
              <a:rPr sz="1800" b="1">
                <a:solidFill>
                  <a:srgbClr val="B8CEF5"/>
                </a:solidFill>
              </a:rPr>
              <a:t>Burst-correlated error model:</a:t>
            </a:r>
            <a:r>
              <a:rPr sz="1800">
                <a:solidFill>
                  <a:srgbClr val="94A3B8"/>
                </a:solidFill>
              </a:rPr>
              <a:t> errors cluster in long bursts (~8–12 s) followed by short gaps (~1–2 s). During bursts, ~15% of individual requests fail independently; during gaps, ~1%. </a:t>
            </a:r>
          </a:p>
          <a:p>
            <a:pPr>
              <a:spcAft>
                <a:spcPts val="800"/>
              </a:spcAft>
            </a:pPr>
            <a:r>
              <a:rPr sz="1800">
                <a:solidFill>
                  <a:srgbClr val="94A3B8"/>
                </a:solidFill>
              </a:rPr>
              <a:t/>
            </a:r>
            <a:r>
              <a:rPr sz="1800" b="1">
                <a:solidFill>
                  <a:srgbClr val="B8CEF5"/>
                </a:solidFill>
              </a:rPr>
              <a:t>Why correlated errors?</a:t>
            </a:r>
            <a:r>
              <a:rPr sz="1800">
                <a:solidFill>
                  <a:srgbClr val="94A3B8"/>
                </a:solidFill>
              </a:rPr>
              <a:t> Under uniform-random failures (each request fails independently at 5%), retries cannot improve outcomes because every attempt carries the same probability regardless of timing. Correlated errors create time windows where retry spacing matters: backoff+jitter retries can land in recovery periods while rapid retries stay stuck in burst windows. This mirrors how real degraded services behave.</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10. Experimental Design — Parameters</a:t>
            </a:r>
          </a:p>
        </p:txBody>
      </p:sp>
      <p:graphicFrame>
        <p:nvGraphicFramePr>
          <p:cNvPr id="5" name="Table 4"/>
          <p:cNvGraphicFramePr>
            <a:graphicFrameLocks noGrp="1"/>
          </p:cNvGraphicFramePr>
          <p:nvPr/>
        </p:nvGraphicFramePr>
        <p:xfrm>
          <a:off x="731520" y="1280160"/>
          <a:ext cx="10698480" cy="2697479"/>
        </p:xfrm>
        <a:graphic>
          <a:graphicData uri="http://schemas.openxmlformats.org/drawingml/2006/table">
            <a:tbl>
              <a:tblPr firstRow="1" bandRow="1">
                <a:tableStyleId>{5C22544A-7EE6-4342-B048-85BDC9FD1C3A}</a:tableStyleId>
              </a:tblPr>
              <a:tblGrid>
                <a:gridCol w="3566160"/>
                <a:gridCol w="3566160"/>
                <a:gridCol w="3566160"/>
              </a:tblGrid>
              <a:tr h="337184">
                <a:tc>
                  <a:txBody>
                    <a:bodyPr/>
                    <a:lstStyle/>
                    <a:p>
                      <a:pPr>
                        <a:defRPr sz="1300" b="1">
                          <a:solidFill>
                            <a:srgbClr val="F1F5F9"/>
                          </a:solidFill>
                        </a:defRPr>
                      </a:pPr>
                      <a:r>
                        <a:t>Parameter</a:t>
                      </a:r>
                    </a:p>
                  </a:txBody>
                  <a:tcPr>
                    <a:solidFill>
                      <a:srgbClr val="1E3A8A"/>
                    </a:solidFill>
                  </a:tcPr>
                </a:tc>
                <a:tc>
                  <a:txBody>
                    <a:bodyPr/>
                    <a:lstStyle/>
                    <a:p>
                      <a:pPr algn="ctr">
                        <a:defRPr sz="1300" b="1">
                          <a:solidFill>
                            <a:srgbClr val="F1F5F9"/>
                          </a:solidFill>
                        </a:defRPr>
                      </a:pPr>
                      <a:r>
                        <a:t>Value</a:t>
                      </a:r>
                    </a:p>
                  </a:txBody>
                  <a:tcPr>
                    <a:solidFill>
                      <a:srgbClr val="1E3A8A"/>
                    </a:solidFill>
                  </a:tcPr>
                </a:tc>
                <a:tc>
                  <a:txBody>
                    <a:bodyPr/>
                    <a:lstStyle/>
                    <a:p>
                      <a:pPr algn="ctr">
                        <a:defRPr sz="1300" b="1">
                          <a:solidFill>
                            <a:srgbClr val="F1F5F9"/>
                          </a:solidFill>
                        </a:defRPr>
                      </a:pPr>
                      <a:r>
                        <a:t>Rationale</a:t>
                      </a:r>
                    </a:p>
                  </a:txBody>
                  <a:tcPr>
                    <a:solidFill>
                      <a:srgbClr val="1E3A8A"/>
                    </a:solidFill>
                  </a:tcPr>
                </a:tc>
              </a:tr>
              <a:tr h="337184">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37184">
                <a:tc>
                  <a:txBody>
                    <a:bodyPr/>
                    <a:lstStyle/>
                    <a:p>
                      <a:pPr>
                        <a:defRPr sz="1200" b="1">
                          <a:solidFill>
                            <a:srgbClr val="F1F5F9"/>
                          </a:solidFill>
                        </a:defRPr>
                      </a:pPr>
                      <a:r>
                        <a:t>Load rate</a:t>
                      </a:r>
                    </a:p>
                  </a:txBody>
                  <a:tcPr>
                    <a:solidFill>
                      <a:srgbClr val="1E293B"/>
                    </a:solidFill>
                  </a:tcPr>
                </a:tc>
                <a:tc>
                  <a:txBody>
                    <a:bodyPr/>
                    <a:lstStyle/>
                    <a:p>
                      <a:pPr algn="ctr">
                        <a:defRPr sz="1200">
                          <a:solidFill>
                            <a:srgbClr val="F1F5F9"/>
                          </a:solidFill>
                        </a:defRPr>
                      </a:pPr>
                      <a:r>
                        <a:t>20 req/s</a:t>
                      </a:r>
                    </a:p>
                  </a:txBody>
                  <a:tcPr>
                    <a:solidFill>
                      <a:srgbClr val="1E293B"/>
                    </a:solidFill>
                  </a:tcPr>
                </a:tc>
                <a:tc>
                  <a:txBody>
                    <a:bodyPr/>
                    <a:lstStyle/>
                    <a:p>
                      <a:pPr algn="ctr">
                        <a:defRPr sz="1200">
                          <a:solidFill>
                            <a:srgbClr val="F1F5F9"/>
                          </a:solidFill>
                        </a:defRPr>
                      </a:pPr>
                      <a:r>
                        <a:t>Produces ~600 requests per config without saturating local resources</a:t>
                      </a:r>
                    </a:p>
                  </a:txBody>
                  <a:tcPr>
                    <a:solidFill>
                      <a:srgbClr val="1E293B"/>
                    </a:solidFill>
                  </a:tcPr>
                </a:tc>
              </a:tr>
              <a:tr h="337184">
                <a:tc>
                  <a:txBody>
                    <a:bodyPr/>
                    <a:lstStyle/>
                    <a:p>
                      <a:pPr>
                        <a:defRPr sz="1200" b="1">
                          <a:solidFill>
                            <a:srgbClr val="F1F5F9"/>
                          </a:solidFill>
                        </a:defRPr>
                      </a:pPr>
                      <a:r>
                        <a:t>Duration</a:t>
                      </a:r>
                    </a:p>
                  </a:txBody>
                  <a:tcPr/>
                </a:tc>
                <a:tc>
                  <a:txBody>
                    <a:bodyPr/>
                    <a:lstStyle/>
                    <a:p>
                      <a:pPr algn="ctr">
                        <a:defRPr sz="1200">
                          <a:solidFill>
                            <a:srgbClr val="F1F5F9"/>
                          </a:solidFill>
                        </a:defRPr>
                      </a:pPr>
                      <a:r>
                        <a:t>30 s per config</a:t>
                      </a:r>
                    </a:p>
                  </a:txBody>
                  <a:tcPr/>
                </a:tc>
                <a:tc>
                  <a:txBody>
                    <a:bodyPr/>
                    <a:lstStyle/>
                    <a:p>
                      <a:pPr algn="ctr">
                        <a:defRPr sz="1200">
                          <a:solidFill>
                            <a:srgbClr val="F1F5F9"/>
                          </a:solidFill>
                        </a:defRPr>
                      </a:pPr>
                      <a:r>
                        <a:t>Covers multiple burst/gap transitions plus warm-up buffer</a:t>
                      </a:r>
                    </a:p>
                  </a:txBody>
                  <a:tcPr/>
                </a:tc>
              </a:tr>
              <a:tr h="337184">
                <a:tc>
                  <a:txBody>
                    <a:bodyPr/>
                    <a:lstStyle/>
                    <a:p>
                      <a:pPr>
                        <a:defRPr sz="1200" b="1">
                          <a:solidFill>
                            <a:srgbClr val="F1F5F9"/>
                          </a:solidFill>
                        </a:defRPr>
                      </a:pPr>
                      <a:r>
                        <a:t>Timeout</a:t>
                      </a:r>
                    </a:p>
                  </a:txBody>
                  <a:tcPr>
                    <a:solidFill>
                      <a:srgbClr val="1E293B"/>
                    </a:solidFill>
                  </a:tcPr>
                </a:tc>
                <a:tc>
                  <a:txBody>
                    <a:bodyPr/>
                    <a:lstStyle/>
                    <a:p>
                      <a:pPr algn="ctr">
                        <a:defRPr sz="1200">
                          <a:solidFill>
                            <a:srgbClr val="F1F5F9"/>
                          </a:solidFill>
                        </a:defRPr>
                      </a:pPr>
                      <a:r>
                        <a:t>5 s max</a:t>
                      </a:r>
                    </a:p>
                  </a:txBody>
                  <a:tcPr>
                    <a:solidFill>
                      <a:srgbClr val="1E293B"/>
                    </a:solidFill>
                  </a:tcPr>
                </a:tc>
                <a:tc>
                  <a:txBody>
                    <a:bodyPr/>
                    <a:lstStyle/>
                    <a:p>
                      <a:pPr algn="ctr">
                        <a:defRPr sz="1200">
                          <a:solidFill>
                            <a:srgbClr val="F1F5F9"/>
                          </a:solidFill>
                        </a:defRPr>
                      </a:pPr>
                      <a:r>
                        <a:t>Prevents hung calls; exceeds the 800 ms fault ceiling</a:t>
                      </a:r>
                    </a:p>
                  </a:txBody>
                  <a:tcPr>
                    <a:solidFill>
                      <a:srgbClr val="1E293B"/>
                    </a:solidFill>
                  </a:tcPr>
                </a:tc>
              </a:tr>
              <a:tr h="337184">
                <a:tc>
                  <a:txBody>
                    <a:bodyPr/>
                    <a:lstStyle/>
                    <a:p>
                      <a:pPr>
                        <a:defRPr sz="1200" b="1">
                          <a:solidFill>
                            <a:srgbClr val="F1F5F9"/>
                          </a:solidFill>
                        </a:defRPr>
                      </a:pPr>
                      <a:r>
                        <a:t>Worker pool</a:t>
                      </a:r>
                    </a:p>
                  </a:txBody>
                  <a:tcPr/>
                </a:tc>
                <a:tc>
                  <a:txBody>
                    <a:bodyPr/>
                    <a:lstStyle/>
                    <a:p>
                      <a:pPr algn="ctr">
                        <a:defRPr sz="1200">
                          <a:solidFill>
                            <a:srgbClr val="F1F5F9"/>
                          </a:solidFill>
                        </a:defRPr>
                      </a:pPr>
                      <a:r>
                        <a:t>100 threads</a:t>
                      </a:r>
                    </a:p>
                  </a:txBody>
                  <a:tcPr/>
                </a:tc>
                <a:tc>
                  <a:txBody>
                    <a:bodyPr/>
                    <a:lstStyle/>
                    <a:p>
                      <a:pPr algn="ctr">
                        <a:defRPr sz="1200">
                          <a:solidFill>
                            <a:srgbClr val="F1F5F9"/>
                          </a:solidFill>
                        </a:defRPr>
                      </a:pPr>
                      <a:r>
                        <a:t>Bounded concurrency prevents resource exhaustion under retry storms</a:t>
                      </a:r>
                    </a:p>
                  </a:txBody>
                  <a:tcPr/>
                </a:tc>
              </a:tr>
              <a:tr h="337184">
                <a:tc>
                  <a:txBody>
                    <a:bodyPr/>
                    <a:lstStyle/>
                    <a:p>
                      <a:pPr>
                        <a:defRPr sz="1200" b="1">
                          <a:solidFill>
                            <a:srgbClr val="F1F5F9"/>
                          </a:solidFill>
                        </a:defRPr>
                      </a:pPr>
                      <a:r>
                        <a:t>Service</a:t>
                      </a:r>
                    </a:p>
                  </a:txBody>
                  <a:tcPr>
                    <a:solidFill>
                      <a:srgbClr val="1E293B"/>
                    </a:solidFill>
                  </a:tcPr>
                </a:tc>
                <a:tc>
                  <a:txBody>
                    <a:bodyPr/>
                    <a:lstStyle/>
                    <a:p>
                      <a:pPr algn="ctr">
                        <a:defRPr sz="1200">
                          <a:solidFill>
                            <a:srgbClr val="F1F5F9"/>
                          </a:solidFill>
                        </a:defRPr>
                      </a:pPr>
                      <a:r>
                        <a:t>Waitress WSGI server, 512 threads</a:t>
                      </a:r>
                    </a:p>
                  </a:txBody>
                  <a:tcPr>
                    <a:solidFill>
                      <a:srgbClr val="1E293B"/>
                    </a:solidFill>
                  </a:tcPr>
                </a:tc>
                <a:tc>
                  <a:txBody>
                    <a:bodyPr/>
                    <a:lstStyle/>
                    <a:p>
                      <a:pPr algn="ctr">
                        <a:defRPr sz="1200">
                          <a:solidFill>
                            <a:srgbClr val="F1F5F9"/>
                          </a:solidFill>
                        </a:defRPr>
                      </a:pPr>
                      <a:r>
                        <a:t>Avoids bottlenecking the server itself</a:t>
                      </a:r>
                    </a:p>
                  </a:txBody>
                  <a:tcPr>
                    <a:solidFill>
                      <a:srgbClr val="1E293B"/>
                    </a:solidFill>
                  </a:tcPr>
                </a:tc>
              </a:tr>
              <a:tr h="337191">
                <a:tc>
                  <a:txBody>
                    <a:bodyPr/>
                    <a:lstStyle/>
                    <a:p>
                      <a:pPr>
                        <a:defRPr sz="1200" b="1">
                          <a:solidFill>
                            <a:srgbClr val="F1F5F9"/>
                          </a:solidFill>
                        </a:defRPr>
                      </a:pPr>
                      <a:r>
                        <a:t>Configurations tested</a:t>
                      </a:r>
                    </a:p>
                  </a:txBody>
                  <a:tcPr/>
                </a:tc>
                <a:tc>
                  <a:txBody>
                    <a:bodyPr/>
                    <a:lstStyle/>
                    <a:p>
                      <a:pPr algn="ctr">
                        <a:defRPr sz="1200">
                          <a:solidFill>
                            <a:srgbClr val="F1F5F9"/>
                          </a:solidFill>
                        </a:defRPr>
                      </a:pPr>
                      <a:r>
                        <a:t>4</a:t>
                      </a:r>
                    </a:p>
                  </a:txBody>
                  <a:tcPr/>
                </a:tc>
                <a:tc>
                  <a:txBody>
                    <a:bodyPr/>
                    <a:lstStyle/>
                    <a:p>
                      <a:pPr algn="ctr">
                        <a:defRPr sz="1200">
                          <a:solidFill>
                            <a:srgbClr val="F1F5F9"/>
                          </a:solidFill>
                        </a:defRPr>
                      </a:pPr>
                      <a:r>
                        <a:t>Sequential runs with clean state reset between each config</a:t>
                      </a:r>
                    </a:p>
                  </a:txBody>
                  <a:tcPr/>
                </a:tc>
              </a:tr>
            </a:tbl>
          </a:graphicData>
        </a:graphic>
      </p:graphicFrame>
      <p:sp>
        <p:nvSpPr>
          <p:cNvPr id="6" name="TextBox 5"/>
          <p:cNvSpPr txBox="1"/>
          <p:nvPr/>
        </p:nvSpPr>
        <p:spPr>
          <a:xfrm>
            <a:off x="731520" y="4114799"/>
            <a:ext cx="10698480" cy="5029200"/>
          </a:xfrm>
          <a:prstGeom prst="rect">
            <a:avLst/>
          </a:prstGeom>
          <a:noFill/>
        </p:spPr>
        <p:txBody>
          <a:bodyPr wrap="square">
            <a:spAutoFit/>
          </a:bodyPr>
          <a:lstStyle/>
          <a:p>
            <a:pPr>
              <a:spcAft>
                <a:spcPts val="800"/>
              </a:spcAft>
            </a:pPr>
            <a:r>
              <a:rPr sz="1800">
                <a:solidFill>
                  <a:srgbClr val="94A3B8"/>
                </a:solidFill>
              </a:rPr>
              <a:t>Each configuration runs sequentially with a fresh state. Raw per-request data is saved as JSON for independent statistical analysis.</a:t>
            </a:r>
          </a:p>
        </p:txBody>
      </p:sp>
      <p:sp>
        <p:nvSpPr>
          <p:cNvPr id="7" name="TextBox 6"/>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11. Experiment Run 1 — Burst Mode Results</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Error rates show meaningful differentiation across strategies:</a:t>
            </a:r>
          </a:p>
        </p:txBody>
      </p:sp>
      <p:graphicFrame>
        <p:nvGraphicFramePr>
          <p:cNvPr id="6" name="Table 5"/>
          <p:cNvGraphicFramePr>
            <a:graphicFrameLocks noGrp="1"/>
          </p:cNvGraphicFramePr>
          <p:nvPr/>
        </p:nvGraphicFramePr>
        <p:xfrm>
          <a:off x="731520" y="1554480"/>
          <a:ext cx="10698480" cy="2057399"/>
        </p:xfrm>
        <a:graphic>
          <a:graphicData uri="http://schemas.openxmlformats.org/drawingml/2006/table">
            <a:tbl>
              <a:tblPr firstRow="1" bandRow="1">
                <a:tableStyleId>{5C22544A-7EE6-4342-B048-85BDC9FD1C3A}</a:tableStyleId>
              </a:tblPr>
              <a:tblGrid>
                <a:gridCol w="1188720"/>
                <a:gridCol w="1188720"/>
                <a:gridCol w="1188720"/>
                <a:gridCol w="1188720"/>
                <a:gridCol w="1188720"/>
                <a:gridCol w="1188720"/>
                <a:gridCol w="1188720"/>
                <a:gridCol w="1188720"/>
                <a:gridCol w="1188720"/>
              </a:tblGrid>
              <a:tr h="342899">
                <a:tc>
                  <a:txBody>
                    <a:bodyPr/>
                    <a:lstStyle/>
                    <a:p>
                      <a:pPr>
                        <a:defRPr sz="1300" b="1">
                          <a:solidFill>
                            <a:srgbClr val="F1F5F9"/>
                          </a:solidFill>
                        </a:defRPr>
                      </a:pPr>
                      <a:r>
                        <a:t>Configuration</a:t>
                      </a:r>
                    </a:p>
                  </a:txBody>
                  <a:tcPr>
                    <a:solidFill>
                      <a:srgbClr val="1E3A8A"/>
                    </a:solidFill>
                  </a:tcPr>
                </a:tc>
                <a:tc>
                  <a:txBody>
                    <a:bodyPr/>
                    <a:lstStyle/>
                    <a:p>
                      <a:pPr algn="ctr">
                        <a:defRPr sz="1300" b="1">
                          <a:solidFill>
                            <a:srgbClr val="F1F5F9"/>
                          </a:solidFill>
                        </a:defRPr>
                      </a:pPr>
                      <a:r>
                        <a:t>Total Requests</a:t>
                      </a:r>
                    </a:p>
                  </a:txBody>
                  <a:tcPr>
                    <a:solidFill>
                      <a:srgbClr val="1E3A8A"/>
                    </a:solidFill>
                  </a:tcPr>
                </a:tc>
                <a:tc>
                  <a:txBody>
                    <a:bodyPr/>
                    <a:lstStyle/>
                    <a:p>
                      <a:pPr algn="ctr">
                        <a:defRPr sz="1300" b="1">
                          <a:solidFill>
                            <a:srgbClr val="F1F5F9"/>
                          </a:solidFill>
                        </a:defRPr>
                      </a:pPr>
                      <a:r>
                        <a:t>Successful</a:t>
                      </a:r>
                    </a:p>
                  </a:txBody>
                  <a:tcPr>
                    <a:solidFill>
                      <a:srgbClr val="1E3A8A"/>
                    </a:solidFill>
                  </a:tcPr>
                </a:tc>
                <a:tc>
                  <a:txBody>
                    <a:bodyPr/>
                    <a:lstStyle/>
                    <a:p>
                      <a:pPr algn="ctr">
                        <a:defRPr sz="1300" b="1">
                          <a:solidFill>
                            <a:srgbClr val="F1F5F9"/>
                          </a:solidFill>
                        </a:defRPr>
                      </a:pPr>
                      <a:r>
                        <a:t>Failed</a:t>
                      </a:r>
                    </a:p>
                  </a:txBody>
                  <a:tcPr>
                    <a:solidFill>
                      <a:srgbClr val="1E3A8A"/>
                    </a:solidFill>
                  </a:tcPr>
                </a:tc>
                <a:tc>
                  <a:txBody>
                    <a:bodyPr/>
                    <a:lstStyle/>
                    <a:p>
                      <a:pPr algn="ctr">
                        <a:defRPr sz="1300" b="1">
                          <a:solidFill>
                            <a:srgbClr val="F1F5F9"/>
                          </a:solidFill>
                        </a:defRPr>
                      </a:pPr>
                      <a:r>
                        <a:t>P50 (ms)</a:t>
                      </a:r>
                    </a:p>
                  </a:txBody>
                  <a:tcPr>
                    <a:solidFill>
                      <a:srgbClr val="1E3A8A"/>
                    </a:solidFill>
                  </a:tcPr>
                </a:tc>
                <a:tc>
                  <a:txBody>
                    <a:bodyPr/>
                    <a:lstStyle/>
                    <a:p>
                      <a:pPr algn="ctr">
                        <a:defRPr sz="1300" b="1">
                          <a:solidFill>
                            <a:srgbClr val="F1F5F9"/>
                          </a:solidFill>
                        </a:defRPr>
                      </a:pPr>
                      <a:r>
                        <a:t>P95 (ms)</a:t>
                      </a:r>
                    </a:p>
                  </a:txBody>
                  <a:tcPr>
                    <a:solidFill>
                      <a:srgbClr val="1E3A8A"/>
                    </a:solidFill>
                  </a:tcPr>
                </a:tc>
                <a:tc>
                  <a:txBody>
                    <a:bodyPr/>
                    <a:lstStyle/>
                    <a:p>
                      <a:pPr algn="ctr">
                        <a:defRPr sz="1300" b="1">
                          <a:solidFill>
                            <a:srgbClr val="F1F5F9"/>
                          </a:solidFill>
                        </a:defRPr>
                      </a:pPr>
                      <a:r>
                        <a:t>P99 (ms)</a:t>
                      </a:r>
                    </a:p>
                  </a:txBody>
                  <a:tcPr>
                    <a:solidFill>
                      <a:srgbClr val="1E3A8A"/>
                    </a:solidFill>
                  </a:tcPr>
                </a:tc>
                <a:tc>
                  <a:txBody>
                    <a:bodyPr/>
                    <a:lstStyle/>
                    <a:p>
                      <a:pPr algn="ctr">
                        <a:defRPr sz="1300" b="1">
                          <a:solidFill>
                            <a:srgbClr val="F1F5F9"/>
                          </a:solidFill>
                        </a:defRPr>
                      </a:pPr>
                      <a:r>
                        <a:t>Error Rate</a:t>
                      </a:r>
                    </a:p>
                  </a:txBody>
                  <a:tcPr>
                    <a:solidFill>
                      <a:srgbClr val="1E3A8A"/>
                    </a:solidFill>
                  </a:tcPr>
                </a:tc>
                <a:tc>
                  <a:txBody>
                    <a:bodyPr/>
                    <a:lstStyle/>
                    <a:p>
                      <a:pPr algn="ctr">
                        <a:defRPr sz="1300" b="1">
                          <a:solidFill>
                            <a:srgbClr val="F1F5F9"/>
                          </a:solidFill>
                        </a:defRPr>
                      </a:pPr>
                      <a:r>
                        <a:t>Throughput</a:t>
                      </a:r>
                    </a:p>
                  </a:txBody>
                  <a:tcPr>
                    <a:solidFill>
                      <a:srgbClr val="1E3A8A"/>
                    </a:solidFill>
                  </a:tcPr>
                </a:tc>
              </a:tr>
              <a:tr h="34289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2899">
                <a:tc>
                  <a:txBody>
                    <a:bodyPr/>
                    <a:lstStyle/>
                    <a:p>
                      <a:pPr>
                        <a:defRPr sz="1200" b="1">
                          <a:solidFill>
                            <a:srgbClr val="F1F5F9"/>
                          </a:solidFill>
                        </a:defRPr>
                      </a:pPr>
                      <a:r>
                        <a:t>**No retry**</a:t>
                      </a:r>
                    </a:p>
                  </a:txBody>
                  <a:tcPr>
                    <a:solidFill>
                      <a:srgbClr val="1E293B"/>
                    </a:solidFill>
                  </a:tcPr>
                </a:tc>
                <a:tc>
                  <a:txBody>
                    <a:bodyPr/>
                    <a:lstStyle/>
                    <a:p>
                      <a:pPr algn="ctr">
                        <a:defRPr sz="1200">
                          <a:solidFill>
                            <a:srgbClr val="F1F5F9"/>
                          </a:solidFill>
                        </a:defRPr>
                      </a:pPr>
                      <a:r>
                        <a:t>600</a:t>
                      </a:r>
                    </a:p>
                  </a:txBody>
                  <a:tcPr>
                    <a:solidFill>
                      <a:srgbClr val="1E293B"/>
                    </a:solidFill>
                  </a:tcPr>
                </a:tc>
                <a:tc>
                  <a:txBody>
                    <a:bodyPr/>
                    <a:lstStyle/>
                    <a:p>
                      <a:pPr algn="ctr">
                        <a:defRPr sz="1200">
                          <a:solidFill>
                            <a:srgbClr val="F1F5F9"/>
                          </a:solidFill>
                        </a:defRPr>
                      </a:pPr>
                      <a:r>
                        <a:t>513</a:t>
                      </a:r>
                    </a:p>
                  </a:txBody>
                  <a:tcPr>
                    <a:solidFill>
                      <a:srgbClr val="1E293B"/>
                    </a:solidFill>
                  </a:tcPr>
                </a:tc>
                <a:tc>
                  <a:txBody>
                    <a:bodyPr/>
                    <a:lstStyle/>
                    <a:p>
                      <a:pPr algn="ctr">
                        <a:defRPr sz="1200">
                          <a:solidFill>
                            <a:srgbClr val="F1F5F9"/>
                          </a:solidFill>
                        </a:defRPr>
                      </a:pPr>
                      <a:r>
                        <a:t>87</a:t>
                      </a:r>
                    </a:p>
                  </a:txBody>
                  <a:tcPr>
                    <a:solidFill>
                      <a:srgbClr val="1E293B"/>
                    </a:solidFill>
                  </a:tcPr>
                </a:tc>
                <a:tc>
                  <a:txBody>
                    <a:bodyPr/>
                    <a:lstStyle/>
                    <a:p>
                      <a:pPr algn="ctr">
                        <a:defRPr sz="1200">
                          <a:solidFill>
                            <a:srgbClr val="F1F5F9"/>
                          </a:solidFill>
                        </a:defRPr>
                      </a:pPr>
                      <a:r>
                        <a:t>543.0</a:t>
                      </a:r>
                    </a:p>
                  </a:txBody>
                  <a:tcPr>
                    <a:solidFill>
                      <a:srgbClr val="1E293B"/>
                    </a:solidFill>
                  </a:tcPr>
                </a:tc>
                <a:tc>
                  <a:txBody>
                    <a:bodyPr/>
                    <a:lstStyle/>
                    <a:p>
                      <a:pPr algn="ctr">
                        <a:defRPr sz="1200">
                          <a:solidFill>
                            <a:srgbClr val="F1F5F9"/>
                          </a:solidFill>
                        </a:defRPr>
                      </a:pPr>
                      <a:r>
                        <a:t>801.7</a:t>
                      </a:r>
                    </a:p>
                  </a:txBody>
                  <a:tcPr>
                    <a:solidFill>
                      <a:srgbClr val="1E293B"/>
                    </a:solidFill>
                  </a:tcPr>
                </a:tc>
                <a:tc>
                  <a:txBody>
                    <a:bodyPr/>
                    <a:lstStyle/>
                    <a:p>
                      <a:pPr algn="ctr">
                        <a:defRPr sz="1200">
                          <a:solidFill>
                            <a:srgbClr val="F1F5F9"/>
                          </a:solidFill>
                        </a:defRPr>
                      </a:pPr>
                      <a:r>
                        <a:t>802.9</a:t>
                      </a:r>
                    </a:p>
                  </a:txBody>
                  <a:tcPr>
                    <a:solidFill>
                      <a:srgbClr val="1E293B"/>
                    </a:solidFill>
                  </a:tcPr>
                </a:tc>
                <a:tc>
                  <a:txBody>
                    <a:bodyPr/>
                    <a:lstStyle/>
                    <a:p>
                      <a:pPr algn="ctr">
                        <a:defRPr sz="1200">
                          <a:solidFill>
                            <a:srgbClr val="F1F5F9"/>
                          </a:solidFill>
                        </a:defRPr>
                      </a:pPr>
                      <a:r>
                        <a:t>**14.50%**</a:t>
                      </a:r>
                    </a:p>
                  </a:txBody>
                  <a:tcPr>
                    <a:solidFill>
                      <a:srgbClr val="1E293B"/>
                    </a:solidFill>
                  </a:tcPr>
                </a:tc>
                <a:tc>
                  <a:txBody>
                    <a:bodyPr/>
                    <a:lstStyle/>
                    <a:p>
                      <a:pPr algn="ctr">
                        <a:defRPr sz="1200">
                          <a:solidFill>
                            <a:srgbClr val="F1F5F9"/>
                          </a:solidFill>
                        </a:defRPr>
                      </a:pPr>
                      <a:r>
                        <a:t>19.7 req/s</a:t>
                      </a:r>
                    </a:p>
                  </a:txBody>
                  <a:tcPr>
                    <a:solidFill>
                      <a:srgbClr val="1E293B"/>
                    </a:solidFill>
                  </a:tcPr>
                </a:tc>
              </a:tr>
              <a:tr h="342899">
                <a:tc>
                  <a:txBody>
                    <a:bodyPr/>
                    <a:lstStyle/>
                    <a:p>
                      <a:pPr>
                        <a:defRPr sz="1200" b="1">
                          <a:solidFill>
                            <a:srgbClr val="F1F5F9"/>
                          </a:solidFill>
                        </a:defRPr>
                      </a:pPr>
                      <a:r>
                        <a:t>**Naive retry**</a:t>
                      </a:r>
                    </a:p>
                  </a:txBody>
                  <a:tcPr/>
                </a:tc>
                <a:tc>
                  <a:txBody>
                    <a:bodyPr/>
                    <a:lstStyle/>
                    <a:p>
                      <a:pPr algn="ctr">
                        <a:defRPr sz="1200">
                          <a:solidFill>
                            <a:srgbClr val="F1F5F9"/>
                          </a:solidFill>
                        </a:defRPr>
                      </a:pPr>
                      <a:r>
                        <a:t>600</a:t>
                      </a:r>
                    </a:p>
                  </a:txBody>
                  <a:tcPr/>
                </a:tc>
                <a:tc>
                  <a:txBody>
                    <a:bodyPr/>
                    <a:lstStyle/>
                    <a:p>
                      <a:pPr algn="ctr">
                        <a:defRPr sz="1200">
                          <a:solidFill>
                            <a:srgbClr val="F1F5F9"/>
                          </a:solidFill>
                        </a:defRPr>
                      </a:pPr>
                      <a:r>
                        <a:t>535</a:t>
                      </a:r>
                    </a:p>
                  </a:txBody>
                  <a:tcPr/>
                </a:tc>
                <a:tc>
                  <a:txBody>
                    <a:bodyPr/>
                    <a:lstStyle/>
                    <a:p>
                      <a:pPr algn="ctr">
                        <a:defRPr sz="1200">
                          <a:solidFill>
                            <a:srgbClr val="F1F5F9"/>
                          </a:solidFill>
                        </a:defRPr>
                      </a:pPr>
                      <a:r>
                        <a:t>65</a:t>
                      </a:r>
                    </a:p>
                  </a:txBody>
                  <a:tcPr/>
                </a:tc>
                <a:tc>
                  <a:txBody>
                    <a:bodyPr/>
                    <a:lstStyle/>
                    <a:p>
                      <a:pPr algn="ctr">
                        <a:defRPr sz="1200">
                          <a:solidFill>
                            <a:srgbClr val="F1F5F9"/>
                          </a:solidFill>
                        </a:defRPr>
                      </a:pPr>
                      <a:r>
                        <a:t>524.0</a:t>
                      </a:r>
                    </a:p>
                  </a:txBody>
                  <a:tcPr/>
                </a:tc>
                <a:tc>
                  <a:txBody>
                    <a:bodyPr/>
                    <a:lstStyle/>
                    <a:p>
                      <a:pPr algn="ctr">
                        <a:defRPr sz="1200">
                          <a:solidFill>
                            <a:srgbClr val="F1F5F9"/>
                          </a:solidFill>
                        </a:defRPr>
                      </a:pPr>
                      <a:r>
                        <a:t>801.9</a:t>
                      </a:r>
                    </a:p>
                  </a:txBody>
                  <a:tcPr/>
                </a:tc>
                <a:tc>
                  <a:txBody>
                    <a:bodyPr/>
                    <a:lstStyle/>
                    <a:p>
                      <a:pPr algn="ctr">
                        <a:defRPr sz="1200">
                          <a:solidFill>
                            <a:srgbClr val="F1F5F9"/>
                          </a:solidFill>
                        </a:defRPr>
                      </a:pPr>
                      <a:r>
                        <a:t>802.7</a:t>
                      </a:r>
                    </a:p>
                  </a:txBody>
                  <a:tcPr/>
                </a:tc>
                <a:tc>
                  <a:txBody>
                    <a:bodyPr/>
                    <a:lstStyle/>
                    <a:p>
                      <a:pPr algn="ctr">
                        <a:defRPr sz="1200">
                          <a:solidFill>
                            <a:srgbClr val="F1F5F9"/>
                          </a:solidFill>
                        </a:defRPr>
                      </a:pPr>
                      <a:r>
                        <a:t>**10.83%**</a:t>
                      </a:r>
                    </a:p>
                  </a:txBody>
                  <a:tcPr/>
                </a:tc>
                <a:tc>
                  <a:txBody>
                    <a:bodyPr/>
                    <a:lstStyle/>
                    <a:p>
                      <a:pPr algn="ctr">
                        <a:defRPr sz="1200">
                          <a:solidFill>
                            <a:srgbClr val="F1F5F9"/>
                          </a:solidFill>
                        </a:defRPr>
                      </a:pPr>
                      <a:r>
                        <a:t>19.7 req/s</a:t>
                      </a:r>
                    </a:p>
                  </a:txBody>
                  <a:tcPr/>
                </a:tc>
              </a:tr>
              <a:tr h="342899">
                <a:tc>
                  <a:txBody>
                    <a:bodyPr/>
                    <a:lstStyle/>
                    <a:p>
                      <a:pPr>
                        <a:defRPr sz="1200" b="1">
                          <a:solidFill>
                            <a:srgbClr val="F1F5F9"/>
                          </a:solidFill>
                        </a:defRPr>
                      </a:pPr>
                      <a:r>
                        <a:t>**Retry + jitter**</a:t>
                      </a:r>
                    </a:p>
                  </a:txBody>
                  <a:tcPr>
                    <a:solidFill>
                      <a:srgbClr val="1E293B"/>
                    </a:solidFill>
                  </a:tcPr>
                </a:tc>
                <a:tc>
                  <a:txBody>
                    <a:bodyPr/>
                    <a:lstStyle/>
                    <a:p>
                      <a:pPr algn="ctr">
                        <a:defRPr sz="1200">
                          <a:solidFill>
                            <a:srgbClr val="F1F5F9"/>
                          </a:solidFill>
                        </a:defRPr>
                      </a:pPr>
                      <a:r>
                        <a:t>600</a:t>
                      </a:r>
                    </a:p>
                  </a:txBody>
                  <a:tcPr>
                    <a:solidFill>
                      <a:srgbClr val="1E293B"/>
                    </a:solidFill>
                  </a:tcPr>
                </a:tc>
                <a:tc>
                  <a:txBody>
                    <a:bodyPr/>
                    <a:lstStyle/>
                    <a:p>
                      <a:pPr algn="ctr">
                        <a:defRPr sz="1200">
                          <a:solidFill>
                            <a:srgbClr val="F1F5F9"/>
                          </a:solidFill>
                        </a:defRPr>
                      </a:pPr>
                      <a:r>
                        <a:t>519</a:t>
                      </a:r>
                    </a:p>
                  </a:txBody>
                  <a:tcPr>
                    <a:solidFill>
                      <a:srgbClr val="1E293B"/>
                    </a:solidFill>
                  </a:tcPr>
                </a:tc>
                <a:tc>
                  <a:txBody>
                    <a:bodyPr/>
                    <a:lstStyle/>
                    <a:p>
                      <a:pPr algn="ctr">
                        <a:defRPr sz="1200">
                          <a:solidFill>
                            <a:srgbClr val="F1F5F9"/>
                          </a:solidFill>
                        </a:defRPr>
                      </a:pPr>
                      <a:r>
                        <a:t>81</a:t>
                      </a:r>
                    </a:p>
                  </a:txBody>
                  <a:tcPr>
                    <a:solidFill>
                      <a:srgbClr val="1E293B"/>
                    </a:solidFill>
                  </a:tcPr>
                </a:tc>
                <a:tc>
                  <a:txBody>
                    <a:bodyPr/>
                    <a:lstStyle/>
                    <a:p>
                      <a:pPr algn="ctr">
                        <a:defRPr sz="1200">
                          <a:solidFill>
                            <a:srgbClr val="F1F5F9"/>
                          </a:solidFill>
                        </a:defRPr>
                      </a:pPr>
                      <a:r>
                        <a:t>522.3</a:t>
                      </a:r>
                    </a:p>
                  </a:txBody>
                  <a:tcPr>
                    <a:solidFill>
                      <a:srgbClr val="1E293B"/>
                    </a:solidFill>
                  </a:tcPr>
                </a:tc>
                <a:tc>
                  <a:txBody>
                    <a:bodyPr/>
                    <a:lstStyle/>
                    <a:p>
                      <a:pPr algn="ctr">
                        <a:defRPr sz="1200">
                          <a:solidFill>
                            <a:srgbClr val="F1F5F9"/>
                          </a:solidFill>
                        </a:defRPr>
                      </a:pPr>
                      <a:r>
                        <a:t>801.8</a:t>
                      </a:r>
                    </a:p>
                  </a:txBody>
                  <a:tcPr>
                    <a:solidFill>
                      <a:srgbClr val="1E293B"/>
                    </a:solidFill>
                  </a:tcPr>
                </a:tc>
                <a:tc>
                  <a:txBody>
                    <a:bodyPr/>
                    <a:lstStyle/>
                    <a:p>
                      <a:pPr algn="ctr">
                        <a:defRPr sz="1200">
                          <a:solidFill>
                            <a:srgbClr val="F1F5F9"/>
                          </a:solidFill>
                        </a:defRPr>
                      </a:pPr>
                      <a:r>
                        <a:t>802.7</a:t>
                      </a:r>
                    </a:p>
                  </a:txBody>
                  <a:tcPr>
                    <a:solidFill>
                      <a:srgbClr val="1E293B"/>
                    </a:solidFill>
                  </a:tcPr>
                </a:tc>
                <a:tc>
                  <a:txBody>
                    <a:bodyPr/>
                    <a:lstStyle/>
                    <a:p>
                      <a:pPr algn="ctr">
                        <a:defRPr sz="1200">
                          <a:solidFill>
                            <a:srgbClr val="F1F5F9"/>
                          </a:solidFill>
                        </a:defRPr>
                      </a:pPr>
                      <a:r>
                        <a:t>**13.50%**</a:t>
                      </a:r>
                    </a:p>
                  </a:txBody>
                  <a:tcPr>
                    <a:solidFill>
                      <a:srgbClr val="1E293B"/>
                    </a:solidFill>
                  </a:tcPr>
                </a:tc>
                <a:tc>
                  <a:txBody>
                    <a:bodyPr/>
                    <a:lstStyle/>
                    <a:p>
                      <a:pPr algn="ctr">
                        <a:defRPr sz="1200">
                          <a:solidFill>
                            <a:srgbClr val="F1F5F9"/>
                          </a:solidFill>
                        </a:defRPr>
                      </a:pPr>
                      <a:r>
                        <a:t>19.7 req/s</a:t>
                      </a:r>
                    </a:p>
                  </a:txBody>
                  <a:tcPr>
                    <a:solidFill>
                      <a:srgbClr val="1E293B"/>
                    </a:solidFill>
                  </a:tcPr>
                </a:tc>
              </a:tr>
              <a:tr h="342904">
                <a:tc>
                  <a:txBody>
                    <a:bodyPr/>
                    <a:lstStyle/>
                    <a:p>
                      <a:pPr>
                        <a:defRPr sz="1200" b="1">
                          <a:solidFill>
                            <a:srgbClr val="F1F5F9"/>
                          </a:solidFill>
                        </a:defRPr>
                      </a:pPr>
                      <a:r>
                        <a:t>**Retry + jitter + CB**</a:t>
                      </a:r>
                    </a:p>
                  </a:txBody>
                  <a:tcPr/>
                </a:tc>
                <a:tc>
                  <a:txBody>
                    <a:bodyPr/>
                    <a:lstStyle/>
                    <a:p>
                      <a:pPr algn="ctr">
                        <a:defRPr sz="1200">
                          <a:solidFill>
                            <a:srgbClr val="F1F5F9"/>
                          </a:solidFill>
                        </a:defRPr>
                      </a:pPr>
                      <a:r>
                        <a:t>600</a:t>
                      </a:r>
                    </a:p>
                  </a:txBody>
                  <a:tcPr/>
                </a:tc>
                <a:tc>
                  <a:txBody>
                    <a:bodyPr/>
                    <a:lstStyle/>
                    <a:p>
                      <a:pPr algn="ctr">
                        <a:defRPr sz="1200">
                          <a:solidFill>
                            <a:srgbClr val="F1F5F9"/>
                          </a:solidFill>
                        </a:defRPr>
                      </a:pPr>
                      <a:r>
                        <a:t>516</a:t>
                      </a:r>
                    </a:p>
                  </a:txBody>
                  <a:tcPr/>
                </a:tc>
                <a:tc>
                  <a:txBody>
                    <a:bodyPr/>
                    <a:lstStyle/>
                    <a:p>
                      <a:pPr algn="ctr">
                        <a:defRPr sz="1200">
                          <a:solidFill>
                            <a:srgbClr val="F1F5F9"/>
                          </a:solidFill>
                        </a:defRPr>
                      </a:pPr>
                      <a:r>
                        <a:t>84</a:t>
                      </a:r>
                    </a:p>
                  </a:txBody>
                  <a:tcPr/>
                </a:tc>
                <a:tc>
                  <a:txBody>
                    <a:bodyPr/>
                    <a:lstStyle/>
                    <a:p>
                      <a:pPr algn="ctr">
                        <a:defRPr sz="1200">
                          <a:solidFill>
                            <a:srgbClr val="F1F5F9"/>
                          </a:solidFill>
                        </a:defRPr>
                      </a:pPr>
                      <a:r>
                        <a:t>541.9</a:t>
                      </a:r>
                    </a:p>
                  </a:txBody>
                  <a:tcPr/>
                </a:tc>
                <a:tc>
                  <a:txBody>
                    <a:bodyPr/>
                    <a:lstStyle/>
                    <a:p>
                      <a:pPr algn="ctr">
                        <a:defRPr sz="1200">
                          <a:solidFill>
                            <a:srgbClr val="F1F5F9"/>
                          </a:solidFill>
                        </a:defRPr>
                      </a:pPr>
                      <a:r>
                        <a:t>802.1</a:t>
                      </a:r>
                    </a:p>
                  </a:txBody>
                  <a:tcPr/>
                </a:tc>
                <a:tc>
                  <a:txBody>
                    <a:bodyPr/>
                    <a:lstStyle/>
                    <a:p>
                      <a:pPr algn="ctr">
                        <a:defRPr sz="1200">
                          <a:solidFill>
                            <a:srgbClr val="F1F5F9"/>
                          </a:solidFill>
                        </a:defRPr>
                      </a:pPr>
                      <a:r>
                        <a:t>802.6</a:t>
                      </a:r>
                    </a:p>
                  </a:txBody>
                  <a:tcPr/>
                </a:tc>
                <a:tc>
                  <a:txBody>
                    <a:bodyPr/>
                    <a:lstStyle/>
                    <a:p>
                      <a:pPr algn="ctr">
                        <a:defRPr sz="1200">
                          <a:solidFill>
                            <a:srgbClr val="F1F5F9"/>
                          </a:solidFill>
                        </a:defRPr>
                      </a:pPr>
                      <a:r>
                        <a:t>**14.00%**</a:t>
                      </a:r>
                    </a:p>
                  </a:txBody>
                  <a:tcPr/>
                </a:tc>
                <a:tc>
                  <a:txBody>
                    <a:bodyPr/>
                    <a:lstStyle/>
                    <a:p>
                      <a:pPr algn="ctr">
                        <a:defRPr sz="1200">
                          <a:solidFill>
                            <a:srgbClr val="F1F5F9"/>
                          </a:solidFill>
                        </a:defRPr>
                      </a:pPr>
                      <a:r>
                        <a:t>19.7 req/s</a:t>
                      </a:r>
                    </a:p>
                  </a:txBody>
                  <a:tcPr/>
                </a:tc>
              </a:tr>
            </a:tbl>
          </a:graphicData>
        </a:graphic>
      </p:graphicFrame>
      <p:sp>
        <p:nvSpPr>
          <p:cNvPr id="7" name="TextBox 6"/>
          <p:cNvSpPr txBox="1"/>
          <p:nvPr/>
        </p:nvSpPr>
        <p:spPr>
          <a:xfrm>
            <a:off x="731520" y="3749039"/>
            <a:ext cx="10698480" cy="5029200"/>
          </a:xfrm>
          <a:prstGeom prst="rect">
            <a:avLst/>
          </a:prstGeom>
          <a:noFill/>
        </p:spPr>
        <p:txBody>
          <a:bodyPr wrap="square">
            <a:spAutoFit/>
          </a:bodyPr>
          <a:lstStyle/>
          <a:p>
            <a:pPr>
              <a:spcAft>
                <a:spcPts val="800"/>
              </a:spcAft>
            </a:pPr>
            <a:r>
              <a:rPr sz="1800">
                <a:solidFill>
                  <a:srgbClr val="94A3B8"/>
                </a:solidFill>
              </a:rPr>
              <a:t/>
            </a:r>
            <a:r>
              <a:rPr sz="1800" b="1">
                <a:solidFill>
                  <a:srgbClr val="B8CEF5"/>
                </a:solidFill>
              </a:rPr>
              <a:t>Finding:</a:t>
            </a:r>
            <a:r>
              <a:rPr sz="1800">
                <a:solidFill>
                  <a:srgbClr val="94A3B8"/>
                </a:solidFill>
              </a:rPr>
              <a:t> Naive retry achieved the largest improvement over baseline (14.50% → 10.83%, </a:t>
            </a:r>
            <a:r>
              <a:rPr sz="1800" b="1">
                <a:solidFill>
                  <a:srgbClr val="B8CEF5"/>
                </a:solidFill>
              </a:rPr>
              <a:t>-25%</a:t>
            </a:r>
            <a:r>
              <a:rPr sz="1800">
                <a:solidFill>
                  <a:srgbClr val="94A3B8"/>
                </a:solidFill>
              </a:rPr>
              <a:t>). Jitter improved marginally to 13.5% and circuit breaker to 14.0%, both slightly better than no-retry but behind naive retry.</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12. Interpretation — Why Naive Retry Outperformed</a:t>
            </a:r>
          </a:p>
        </p:txBody>
      </p:sp>
      <p:sp>
        <p:nvSpPr>
          <p:cNvPr id="5" name="TextBox 4"/>
          <p:cNvSpPr txBox="1"/>
          <p:nvPr/>
        </p:nvSpPr>
        <p:spPr>
          <a:xfrm>
            <a:off x="731520" y="1280160"/>
            <a:ext cx="10698480" cy="914400"/>
          </a:xfrm>
          <a:prstGeom prst="rect">
            <a:avLst/>
          </a:prstGeom>
          <a:noFill/>
        </p:spPr>
        <p:txBody>
          <a:bodyPr wrap="square">
            <a:spAutoFit/>
          </a:bodyPr>
          <a:lstStyle/>
          <a:p>
            <a:pPr>
              <a:spcAft>
                <a:spcPts val="600"/>
              </a:spcAft>
            </a:pPr>
            <a:r>
              <a:rPr sz="1700">
                <a:solidFill>
                  <a:srgbClr val="94A3B8"/>
                </a:solidFill>
              </a:rPr>
              <a:t>Two factors explain why naive retry outperformed both jitter and circuit breaker:</a:t>
            </a:r>
          </a:p>
          <a:p>
            <a:pPr>
              <a:spcAft>
                <a:spcPts val="600"/>
              </a:spcAft>
            </a:pPr>
            <a:r>
              <a:rPr sz="1700">
                <a:solidFill>
                  <a:srgbClr val="94A3B8"/>
                </a:solidFill>
              </a:rPr>
              <a:t/>
            </a:r>
            <a:r>
              <a:rPr sz="1700" b="1">
                <a:solidFill>
                  <a:srgbClr val="B8CEF5"/>
                </a:solidFill>
              </a:rPr>
              <a:t>Factor 1: Burst duration &gt;&gt; retry interval.</a:t>
            </a:r>
            <a:r>
              <a:rPr sz="1700">
                <a:solidFill>
                  <a:srgbClr val="94A3B8"/>
                </a:solidFill>
              </a:rPr>
              <a:t> Bursts last 8–12 seconds while gaps are only 1–2 seconds. Any single request has roughly a 60–70% chance of falling within a burst window. A retry with fixed 500 ms delay sometimes lands just outside the burst, while randomized jitter does not reliably shift past the entire burst period. Jitter provides little additional benefit under our fault schedule.</a:t>
            </a:r>
          </a:p>
          <a:p>
            <a:pPr>
              <a:spcAft>
                <a:spcPts val="600"/>
              </a:spcAft>
            </a:pPr>
            <a:r>
              <a:rPr sz="1700">
                <a:solidFill>
                  <a:srgbClr val="94A3B8"/>
                </a:solidFill>
              </a:rPr>
              <a:t/>
            </a:r>
            <a:r>
              <a:rPr sz="1700" b="1">
                <a:solidFill>
                  <a:srgbClr val="B8CEF5"/>
                </a:solidFill>
              </a:rPr>
              <a:t>Factor 2: Circuit breaker trips early and stays open.</a:t>
            </a:r>
            <a:r>
              <a:rPr sz="1700">
                <a:solidFill>
                  <a:srgbClr val="94A3B8"/>
                </a:solidFill>
              </a:rPr>
              <a:t> At 20 req/s, failures accumulate slowly enough that the CB rarely reaches its trip threshold until late in a burst. Once tripped, it fails all subsequent requests immediately rather than letting them succeed in recovery windows. This manifests as latency reduction (fast-fail) rather than error-rate improvement.</a:t>
            </a:r>
          </a:p>
          <a:p>
            <a:pPr>
              <a:spcAft>
                <a:spcPts val="600"/>
              </a:spcAft>
            </a:pPr>
            <a:r>
              <a:rPr sz="1700">
                <a:solidFill>
                  <a:srgbClr val="94A3B8"/>
                </a:solidFill>
              </a:rPr>
              <a:t/>
            </a:r>
            <a:r>
              <a:rPr sz="1700" b="1">
                <a:solidFill>
                  <a:srgbClr val="B8CEF5"/>
                </a:solidFill>
              </a:rPr>
              <a:t>P99 latency ceiling:</a:t>
            </a:r>
            <a:r>
              <a:rPr sz="1700">
                <a:solidFill>
                  <a:srgbClr val="94A3B8"/>
                </a:solidFill>
              </a:rPr>
              <a:t> All configurations plateau at ~803 ms due to the injected latency ramp (200→800 ms). Circuit breakers would need higher concurrency or separate-host deployment to demonstrate their full latency-saving potential via fast-fail semantics.</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13. Experiment Run 2 — Uniform Random Mode Results</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To validate that findings are not artifacts of one fault schedule, we repeated the experiment with uniform-random errors (no correlation between requests):</a:t>
            </a:r>
          </a:p>
        </p:txBody>
      </p:sp>
      <p:graphicFrame>
        <p:nvGraphicFramePr>
          <p:cNvPr id="6" name="Table 5"/>
          <p:cNvGraphicFramePr>
            <a:graphicFrameLocks noGrp="1"/>
          </p:cNvGraphicFramePr>
          <p:nvPr/>
        </p:nvGraphicFramePr>
        <p:xfrm>
          <a:off x="731520" y="1554480"/>
          <a:ext cx="10698480" cy="2057399"/>
        </p:xfrm>
        <a:graphic>
          <a:graphicData uri="http://schemas.openxmlformats.org/drawingml/2006/table">
            <a:tbl>
              <a:tblPr firstRow="1" bandRow="1">
                <a:tableStyleId>{5C22544A-7EE6-4342-B048-85BDC9FD1C3A}</a:tableStyleId>
              </a:tblPr>
              <a:tblGrid>
                <a:gridCol w="3566160"/>
                <a:gridCol w="3566160"/>
                <a:gridCol w="3566160"/>
              </a:tblGrid>
              <a:tr h="342899">
                <a:tc>
                  <a:txBody>
                    <a:bodyPr/>
                    <a:lstStyle/>
                    <a:p>
                      <a:pPr>
                        <a:defRPr sz="1300" b="1">
                          <a:solidFill>
                            <a:srgbClr val="F1F5F9"/>
                          </a:solidFill>
                        </a:defRPr>
                      </a:pPr>
                      <a:r>
                        <a:t>Configuration</a:t>
                      </a:r>
                    </a:p>
                  </a:txBody>
                  <a:tcPr>
                    <a:solidFill>
                      <a:srgbClr val="1E3A8A"/>
                    </a:solidFill>
                  </a:tcPr>
                </a:tc>
                <a:tc>
                  <a:txBody>
                    <a:bodyPr/>
                    <a:lstStyle/>
                    <a:p>
                      <a:pPr algn="ctr">
                        <a:defRPr sz="1300" b="1">
                          <a:solidFill>
                            <a:srgbClr val="F1F5F9"/>
                          </a:solidFill>
                        </a:defRPr>
                      </a:pPr>
                      <a:r>
                        <a:t>Error Rate</a:t>
                      </a:r>
                    </a:p>
                  </a:txBody>
                  <a:tcPr>
                    <a:solidFill>
                      <a:srgbClr val="1E3A8A"/>
                    </a:solidFill>
                  </a:tcPr>
                </a:tc>
                <a:tc>
                  <a:txBody>
                    <a:bodyPr/>
                    <a:lstStyle/>
                    <a:p>
                      <a:pPr algn="ctr">
                        <a:defRPr sz="1300" b="1">
                          <a:solidFill>
                            <a:srgbClr val="F1F5F9"/>
                          </a:solidFill>
                        </a:defRPr>
                      </a:pPr>
                      <a:r>
                        <a:t>Improvement vs Baseline</a:t>
                      </a:r>
                    </a:p>
                  </a:txBody>
                  <a:tcPr>
                    <a:solidFill>
                      <a:srgbClr val="1E3A8A"/>
                    </a:solidFill>
                  </a:tcPr>
                </a:tc>
              </a:tr>
              <a:tr h="34289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2899">
                <a:tc>
                  <a:txBody>
                    <a:bodyPr/>
                    <a:lstStyle/>
                    <a:p>
                      <a:pPr>
                        <a:defRPr sz="1200" b="1">
                          <a:solidFill>
                            <a:srgbClr val="F1F5F9"/>
                          </a:solidFill>
                        </a:defRPr>
                      </a:pPr>
                      <a:r>
                        <a:t>**No retry**</a:t>
                      </a:r>
                    </a:p>
                  </a:txBody>
                  <a:tcPr>
                    <a:solidFill>
                      <a:srgbClr val="1E293B"/>
                    </a:solidFill>
                  </a:tcPr>
                </a:tc>
                <a:tc>
                  <a:txBody>
                    <a:bodyPr/>
                    <a:lstStyle/>
                    <a:p>
                      <a:pPr algn="ctr">
                        <a:defRPr sz="1200">
                          <a:solidFill>
                            <a:srgbClr val="F1F5F9"/>
                          </a:solidFill>
                        </a:defRPr>
                      </a:pPr>
                      <a:r>
                        <a:t>**5.0%**</a:t>
                      </a:r>
                    </a:p>
                  </a:txBody>
                  <a:tcPr>
                    <a:solidFill>
                      <a:srgbClr val="1E293B"/>
                    </a:solidFill>
                  </a:tcPr>
                </a:tc>
                <a:tc>
                  <a:txBody>
                    <a:bodyPr/>
                    <a:lstStyle/>
                    <a:p>
                      <a:pPr algn="ctr">
                        <a:defRPr sz="1200">
                          <a:solidFill>
                            <a:srgbClr val="F1F5F9"/>
                          </a:solidFill>
                        </a:defRPr>
                      </a:pPr>
                      <a:r>
                        <a:t>—</a:t>
                      </a:r>
                    </a:p>
                  </a:txBody>
                  <a:tcPr>
                    <a:solidFill>
                      <a:srgbClr val="1E293B"/>
                    </a:solidFill>
                  </a:tcPr>
                </a:tc>
              </a:tr>
              <a:tr h="342899">
                <a:tc>
                  <a:txBody>
                    <a:bodyPr/>
                    <a:lstStyle/>
                    <a:p>
                      <a:pPr>
                        <a:defRPr sz="1200" b="1">
                          <a:solidFill>
                            <a:srgbClr val="F1F5F9"/>
                          </a:solidFill>
                        </a:defRPr>
                      </a:pPr>
                      <a:r>
                        <a:t>**Naive retry**</a:t>
                      </a:r>
                    </a:p>
                  </a:txBody>
                  <a:tcPr/>
                </a:tc>
                <a:tc>
                  <a:txBody>
                    <a:bodyPr/>
                    <a:lstStyle/>
                    <a:p>
                      <a:pPr algn="ctr">
                        <a:defRPr sz="1200">
                          <a:solidFill>
                            <a:srgbClr val="F1F5F9"/>
                          </a:solidFill>
                        </a:defRPr>
                      </a:pPr>
                      <a:r>
                        <a:t>**5.0%**</a:t>
                      </a:r>
                    </a:p>
                  </a:txBody>
                  <a:tcPr/>
                </a:tc>
                <a:tc>
                  <a:txBody>
                    <a:bodyPr/>
                    <a:lstStyle/>
                    <a:p>
                      <a:pPr algn="ctr">
                        <a:defRPr sz="1200">
                          <a:solidFill>
                            <a:srgbClr val="F1F5F9"/>
                          </a:solidFill>
                        </a:defRPr>
                      </a:pPr>
                      <a:r>
                        <a:t>0% (expected — independent errors)</a:t>
                      </a:r>
                    </a:p>
                  </a:txBody>
                  <a:tcPr/>
                </a:tc>
              </a:tr>
              <a:tr h="342899">
                <a:tc>
                  <a:txBody>
                    <a:bodyPr/>
                    <a:lstStyle/>
                    <a:p>
                      <a:pPr>
                        <a:defRPr sz="1200" b="1">
                          <a:solidFill>
                            <a:srgbClr val="F1F5F9"/>
                          </a:solidFill>
                        </a:defRPr>
                      </a:pPr>
                      <a:r>
                        <a:t>**Retry + jitter**</a:t>
                      </a:r>
                    </a:p>
                  </a:txBody>
                  <a:tcPr>
                    <a:solidFill>
                      <a:srgbClr val="1E293B"/>
                    </a:solidFill>
                  </a:tcPr>
                </a:tc>
                <a:tc>
                  <a:txBody>
                    <a:bodyPr/>
                    <a:lstStyle/>
                    <a:p>
                      <a:pPr algn="ctr">
                        <a:defRPr sz="1200">
                          <a:solidFill>
                            <a:srgbClr val="F1F5F9"/>
                          </a:solidFill>
                        </a:defRPr>
                      </a:pPr>
                      <a:r>
                        <a:t>**5.0%**</a:t>
                      </a:r>
                    </a:p>
                  </a:txBody>
                  <a:tcPr>
                    <a:solidFill>
                      <a:srgbClr val="1E293B"/>
                    </a:solidFill>
                  </a:tcPr>
                </a:tc>
                <a:tc>
                  <a:txBody>
                    <a:bodyPr/>
                    <a:lstStyle/>
                    <a:p>
                      <a:pPr algn="ctr">
                        <a:defRPr sz="1200">
                          <a:solidFill>
                            <a:srgbClr val="F1F5F9"/>
                          </a:solidFill>
                        </a:defRPr>
                      </a:pPr>
                      <a:r>
                        <a:t>0% (expected — independent errors)</a:t>
                      </a:r>
                    </a:p>
                  </a:txBody>
                  <a:tcPr>
                    <a:solidFill>
                      <a:srgbClr val="1E293B"/>
                    </a:solidFill>
                  </a:tcPr>
                </a:tc>
              </a:tr>
              <a:tr h="342904">
                <a:tc>
                  <a:txBody>
                    <a:bodyPr/>
                    <a:lstStyle/>
                    <a:p>
                      <a:pPr>
                        <a:defRPr sz="1200" b="1">
                          <a:solidFill>
                            <a:srgbClr val="F1F5F9"/>
                          </a:solidFill>
                        </a:defRPr>
                      </a:pPr>
                      <a:r>
                        <a:t>**Retry + jitter + CB**</a:t>
                      </a:r>
                    </a:p>
                  </a:txBody>
                  <a:tcPr/>
                </a:tc>
                <a:tc>
                  <a:txBody>
                    <a:bodyPr/>
                    <a:lstStyle/>
                    <a:p>
                      <a:pPr algn="ctr">
                        <a:defRPr sz="1200">
                          <a:solidFill>
                            <a:srgbClr val="F1F5F9"/>
                          </a:solidFill>
                        </a:defRPr>
                      </a:pPr>
                      <a:r>
                        <a:t>**~5.0%**</a:t>
                      </a:r>
                    </a:p>
                  </a:txBody>
                  <a:tcPr/>
                </a:tc>
                <a:tc>
                  <a:txBody>
                    <a:bodyPr/>
                    <a:lstStyle/>
                    <a:p>
                      <a:pPr algn="ctr">
                        <a:defRPr sz="1200">
                          <a:solidFill>
                            <a:srgbClr val="F1F5F9"/>
                          </a:solidFill>
                        </a:defRPr>
                      </a:pPr>
                      <a:r>
                        <a:t>~0% (CB did not trip — 5% independent failures rarely produce 3 consecutive)</a:t>
                      </a:r>
                    </a:p>
                  </a:txBody>
                  <a:tcPr/>
                </a:tc>
              </a:tr>
            </a:tbl>
          </a:graphicData>
        </a:graphic>
      </p:graphicFrame>
      <p:sp>
        <p:nvSpPr>
          <p:cNvPr id="7" name="TextBox 6"/>
          <p:cNvSpPr txBox="1"/>
          <p:nvPr/>
        </p:nvSpPr>
        <p:spPr>
          <a:xfrm>
            <a:off x="731520" y="3749039"/>
            <a:ext cx="10698480" cy="5029200"/>
          </a:xfrm>
          <a:prstGeom prst="rect">
            <a:avLst/>
          </a:prstGeom>
          <a:noFill/>
        </p:spPr>
        <p:txBody>
          <a:bodyPr wrap="square">
            <a:spAutoFit/>
          </a:bodyPr>
          <a:lstStyle/>
          <a:p>
            <a:pPr>
              <a:spcAft>
                <a:spcPts val="800"/>
              </a:spcAft>
            </a:pPr>
            <a:r>
              <a:rPr sz="1800">
                <a:solidFill>
                  <a:srgbClr val="94A3B8"/>
                </a:solidFill>
              </a:rPr>
              <a:t/>
            </a:r>
            <a:r>
              <a:rPr sz="1800" b="1">
                <a:solidFill>
                  <a:srgbClr val="B8CEF5"/>
                </a:solidFill>
              </a:rPr>
              <a:t>Key insight:</a:t>
            </a:r>
            <a:r>
              <a:rPr sz="1800">
                <a:solidFill>
                  <a:srgbClr val="94A3B8"/>
                </a:solidFill>
              </a:rPr>
              <a:t> Under independent errors, no retry pattern improves outcomes. Every attempt has the same probability regardless of timing. This confirms that retry effectiveness depends entirely on </a:t>
            </a:r>
            <a:r>
              <a:rPr sz="1800" b="1">
                <a:solidFill>
                  <a:srgbClr val="B8CEF5"/>
                </a:solidFill>
              </a:rPr>
              <a:t>error correlation</a:t>
            </a:r>
            <a:r>
              <a:rPr sz="1800">
                <a:solidFill>
                  <a:srgbClr val="94A3B8"/>
                </a:solidFill>
              </a:rPr>
              <a:t> — the presence of recovery windows that retry timing can exploit. It validates the design choice to use burst-correlated faults as a more realistic and discriminating experimental condition.</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14. Experiment Run 3 — Sharper Burst Errors</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To stress-test the patterns further, we increased burst error probability to 30% (from 15%) while keeping the same burst/gap structure:</a:t>
            </a:r>
          </a:p>
        </p:txBody>
      </p:sp>
      <p:graphicFrame>
        <p:nvGraphicFramePr>
          <p:cNvPr id="6" name="Table 5"/>
          <p:cNvGraphicFramePr>
            <a:graphicFrameLocks noGrp="1"/>
          </p:cNvGraphicFramePr>
          <p:nvPr/>
        </p:nvGraphicFramePr>
        <p:xfrm>
          <a:off x="731520" y="1554480"/>
          <a:ext cx="10698480" cy="2057399"/>
        </p:xfrm>
        <a:graphic>
          <a:graphicData uri="http://schemas.openxmlformats.org/drawingml/2006/table">
            <a:tbl>
              <a:tblPr firstRow="1" bandRow="1">
                <a:tableStyleId>{5C22544A-7EE6-4342-B048-85BDC9FD1C3A}</a:tableStyleId>
              </a:tblPr>
              <a:tblGrid>
                <a:gridCol w="1783080"/>
                <a:gridCol w="1783080"/>
                <a:gridCol w="1783080"/>
                <a:gridCol w="1783080"/>
                <a:gridCol w="1783080"/>
                <a:gridCol w="1783080"/>
              </a:tblGrid>
              <a:tr h="342899">
                <a:tc>
                  <a:txBody>
                    <a:bodyPr/>
                    <a:lstStyle/>
                    <a:p>
                      <a:pPr>
                        <a:defRPr sz="1300" b="1">
                          <a:solidFill>
                            <a:srgbClr val="F1F5F9"/>
                          </a:solidFill>
                        </a:defRPr>
                      </a:pPr>
                      <a:r>
                        <a:t>Configuration</a:t>
                      </a:r>
                    </a:p>
                  </a:txBody>
                  <a:tcPr>
                    <a:solidFill>
                      <a:srgbClr val="1E3A8A"/>
                    </a:solidFill>
                  </a:tcPr>
                </a:tc>
                <a:tc>
                  <a:txBody>
                    <a:bodyPr/>
                    <a:lstStyle/>
                    <a:p>
                      <a:pPr algn="ctr">
                        <a:defRPr sz="1300" b="1">
                          <a:solidFill>
                            <a:srgbClr val="F1F5F9"/>
                          </a:solidFill>
                        </a:defRPr>
                      </a:pPr>
                      <a:r>
                        <a:t>Total Requests</a:t>
                      </a:r>
                    </a:p>
                  </a:txBody>
                  <a:tcPr>
                    <a:solidFill>
                      <a:srgbClr val="1E3A8A"/>
                    </a:solidFill>
                  </a:tcPr>
                </a:tc>
                <a:tc>
                  <a:txBody>
                    <a:bodyPr/>
                    <a:lstStyle/>
                    <a:p>
                      <a:pPr algn="ctr">
                        <a:defRPr sz="1300" b="1">
                          <a:solidFill>
                            <a:srgbClr val="F1F5F9"/>
                          </a:solidFill>
                        </a:defRPr>
                      </a:pPr>
                      <a:r>
                        <a:t>Successful</a:t>
                      </a:r>
                    </a:p>
                  </a:txBody>
                  <a:tcPr>
                    <a:solidFill>
                      <a:srgbClr val="1E3A8A"/>
                    </a:solidFill>
                  </a:tcPr>
                </a:tc>
                <a:tc>
                  <a:txBody>
                    <a:bodyPr/>
                    <a:lstStyle/>
                    <a:p>
                      <a:pPr algn="ctr">
                        <a:defRPr sz="1300" b="1">
                          <a:solidFill>
                            <a:srgbClr val="F1F5F9"/>
                          </a:solidFill>
                        </a:defRPr>
                      </a:pPr>
                      <a:r>
                        <a:t>Failed</a:t>
                      </a:r>
                    </a:p>
                  </a:txBody>
                  <a:tcPr>
                    <a:solidFill>
                      <a:srgbClr val="1E3A8A"/>
                    </a:solidFill>
                  </a:tcPr>
                </a:tc>
                <a:tc>
                  <a:txBody>
                    <a:bodyPr/>
                    <a:lstStyle/>
                    <a:p>
                      <a:pPr algn="ctr">
                        <a:defRPr sz="1300" b="1">
                          <a:solidFill>
                            <a:srgbClr val="F1F5F9"/>
                          </a:solidFill>
                        </a:defRPr>
                      </a:pPr>
                      <a:r>
                        <a:t>Error Rate</a:t>
                      </a:r>
                    </a:p>
                  </a:txBody>
                  <a:tcPr>
                    <a:solidFill>
                      <a:srgbClr val="1E3A8A"/>
                    </a:solidFill>
                  </a:tcPr>
                </a:tc>
                <a:tc>
                  <a:txBody>
                    <a:bodyPr/>
                    <a:lstStyle/>
                    <a:p>
                      <a:pPr algn="ctr">
                        <a:defRPr sz="1300" b="1">
                          <a:solidFill>
                            <a:srgbClr val="F1F5F9"/>
                          </a:solidFill>
                        </a:defRPr>
                      </a:pPr>
                      <a:r>
                        <a:t>Improvement vs Baseline</a:t>
                      </a:r>
                    </a:p>
                  </a:txBody>
                  <a:tcPr>
                    <a:solidFill>
                      <a:srgbClr val="1E3A8A"/>
                    </a:solidFill>
                  </a:tcPr>
                </a:tc>
              </a:tr>
              <a:tr h="34289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2899">
                <a:tc>
                  <a:txBody>
                    <a:bodyPr/>
                    <a:lstStyle/>
                    <a:p>
                      <a:pPr>
                        <a:defRPr sz="1200" b="1">
                          <a:solidFill>
                            <a:srgbClr val="F1F5F9"/>
                          </a:solidFill>
                        </a:defRPr>
                      </a:pPr>
                      <a:r>
                        <a:t>**No retry**</a:t>
                      </a:r>
                    </a:p>
                  </a:txBody>
                  <a:tcPr>
                    <a:solidFill>
                      <a:srgbClr val="1E293B"/>
                    </a:solidFill>
                  </a:tcPr>
                </a:tc>
                <a:tc>
                  <a:txBody>
                    <a:bodyPr/>
                    <a:lstStyle/>
                    <a:p>
                      <a:pPr algn="ctr">
                        <a:defRPr sz="1200">
                          <a:solidFill>
                            <a:srgbClr val="F1F5F9"/>
                          </a:solidFill>
                        </a:defRPr>
                      </a:pPr>
                      <a:r>
                        <a:t>600</a:t>
                      </a:r>
                    </a:p>
                  </a:txBody>
                  <a:tcPr>
                    <a:solidFill>
                      <a:srgbClr val="1E293B"/>
                    </a:solidFill>
                  </a:tcPr>
                </a:tc>
                <a:tc>
                  <a:txBody>
                    <a:bodyPr/>
                    <a:lstStyle/>
                    <a:p>
                      <a:pPr algn="ctr">
                        <a:defRPr sz="1200">
                          <a:solidFill>
                            <a:srgbClr val="F1F5F9"/>
                          </a:solidFill>
                        </a:defRPr>
                      </a:pPr>
                      <a:r>
                        <a:t>438</a:t>
                      </a:r>
                    </a:p>
                  </a:txBody>
                  <a:tcPr>
                    <a:solidFill>
                      <a:srgbClr val="1E293B"/>
                    </a:solidFill>
                  </a:tcPr>
                </a:tc>
                <a:tc>
                  <a:txBody>
                    <a:bodyPr/>
                    <a:lstStyle/>
                    <a:p>
                      <a:pPr algn="ctr">
                        <a:defRPr sz="1200">
                          <a:solidFill>
                            <a:srgbClr val="F1F5F9"/>
                          </a:solidFill>
                        </a:defRPr>
                      </a:pPr>
                      <a:r>
                        <a:t>162</a:t>
                      </a:r>
                    </a:p>
                  </a:txBody>
                  <a:tcPr>
                    <a:solidFill>
                      <a:srgbClr val="1E293B"/>
                    </a:solidFill>
                  </a:tcPr>
                </a:tc>
                <a:tc>
                  <a:txBody>
                    <a:bodyPr/>
                    <a:lstStyle/>
                    <a:p>
                      <a:pPr algn="ctr">
                        <a:defRPr sz="1200">
                          <a:solidFill>
                            <a:srgbClr val="F1F5F9"/>
                          </a:solidFill>
                        </a:defRPr>
                      </a:pPr>
                      <a:r>
                        <a:t>**27.0%**</a:t>
                      </a:r>
                    </a:p>
                  </a:txBody>
                  <a:tcPr>
                    <a:solidFill>
                      <a:srgbClr val="1E293B"/>
                    </a:solidFill>
                  </a:tcPr>
                </a:tc>
                <a:tc>
                  <a:txBody>
                    <a:bodyPr/>
                    <a:lstStyle/>
                    <a:p>
                      <a:pPr algn="ctr">
                        <a:defRPr sz="1200">
                          <a:solidFill>
                            <a:srgbClr val="F1F5F9"/>
                          </a:solidFill>
                        </a:defRPr>
                      </a:pPr>
                      <a:r>
                        <a:t>—</a:t>
                      </a:r>
                    </a:p>
                  </a:txBody>
                  <a:tcPr>
                    <a:solidFill>
                      <a:srgbClr val="1E293B"/>
                    </a:solidFill>
                  </a:tcPr>
                </a:tc>
              </a:tr>
              <a:tr h="342899">
                <a:tc>
                  <a:txBody>
                    <a:bodyPr/>
                    <a:lstStyle/>
                    <a:p>
                      <a:pPr>
                        <a:defRPr sz="1200" b="1">
                          <a:solidFill>
                            <a:srgbClr val="F1F5F9"/>
                          </a:solidFill>
                        </a:defRPr>
                      </a:pPr>
                      <a:r>
                        <a:t>**Naive retry**</a:t>
                      </a:r>
                    </a:p>
                  </a:txBody>
                  <a:tcPr/>
                </a:tc>
                <a:tc>
                  <a:txBody>
                    <a:bodyPr/>
                    <a:lstStyle/>
                    <a:p>
                      <a:pPr algn="ctr">
                        <a:defRPr sz="1200">
                          <a:solidFill>
                            <a:srgbClr val="F1F5F9"/>
                          </a:solidFill>
                        </a:defRPr>
                      </a:pPr>
                      <a:r>
                        <a:t>600</a:t>
                      </a:r>
                    </a:p>
                  </a:txBody>
                  <a:tcPr/>
                </a:tc>
                <a:tc>
                  <a:txBody>
                    <a:bodyPr/>
                    <a:lstStyle/>
                    <a:p>
                      <a:pPr algn="ctr">
                        <a:defRPr sz="1200">
                          <a:solidFill>
                            <a:srgbClr val="F1F5F9"/>
                          </a:solidFill>
                        </a:defRPr>
                      </a:pPr>
                      <a:r>
                        <a:t>492</a:t>
                      </a:r>
                    </a:p>
                  </a:txBody>
                  <a:tcPr/>
                </a:tc>
                <a:tc>
                  <a:txBody>
                    <a:bodyPr/>
                    <a:lstStyle/>
                    <a:p>
                      <a:pPr algn="ctr">
                        <a:defRPr sz="1200">
                          <a:solidFill>
                            <a:srgbClr val="F1F5F9"/>
                          </a:solidFill>
                        </a:defRPr>
                      </a:pPr>
                      <a:r>
                        <a:t>108</a:t>
                      </a:r>
                    </a:p>
                  </a:txBody>
                  <a:tcPr/>
                </a:tc>
                <a:tc>
                  <a:txBody>
                    <a:bodyPr/>
                    <a:lstStyle/>
                    <a:p>
                      <a:pPr algn="ctr">
                        <a:defRPr sz="1200">
                          <a:solidFill>
                            <a:srgbClr val="F1F5F9"/>
                          </a:solidFill>
                        </a:defRPr>
                      </a:pPr>
                      <a:r>
                        <a:t>**18.0%**</a:t>
                      </a:r>
                    </a:p>
                  </a:txBody>
                  <a:tcPr/>
                </a:tc>
                <a:tc>
                  <a:txBody>
                    <a:bodyPr/>
                    <a:lstStyle/>
                    <a:p>
                      <a:pPr algn="ctr">
                        <a:defRPr sz="1200">
                          <a:solidFill>
                            <a:srgbClr val="F1F5F9"/>
                          </a:solidFill>
                        </a:defRPr>
                      </a:pPr>
                      <a:r>
                        <a:t>**-33%**</a:t>
                      </a:r>
                    </a:p>
                  </a:txBody>
                  <a:tcPr/>
                </a:tc>
              </a:tr>
              <a:tr h="342899">
                <a:tc>
                  <a:txBody>
                    <a:bodyPr/>
                    <a:lstStyle/>
                    <a:p>
                      <a:pPr>
                        <a:defRPr sz="1200" b="1">
                          <a:solidFill>
                            <a:srgbClr val="F1F5F9"/>
                          </a:solidFill>
                        </a:defRPr>
                      </a:pPr>
                      <a:r>
                        <a:t>**Retry + jitter**</a:t>
                      </a:r>
                    </a:p>
                  </a:txBody>
                  <a:tcPr>
                    <a:solidFill>
                      <a:srgbClr val="1E293B"/>
                    </a:solidFill>
                  </a:tcPr>
                </a:tc>
                <a:tc>
                  <a:txBody>
                    <a:bodyPr/>
                    <a:lstStyle/>
                    <a:p>
                      <a:pPr algn="ctr">
                        <a:defRPr sz="1200">
                          <a:solidFill>
                            <a:srgbClr val="F1F5F9"/>
                          </a:solidFill>
                        </a:defRPr>
                      </a:pPr>
                      <a:r>
                        <a:t>600</a:t>
                      </a:r>
                    </a:p>
                  </a:txBody>
                  <a:tcPr>
                    <a:solidFill>
                      <a:srgbClr val="1E293B"/>
                    </a:solidFill>
                  </a:tcPr>
                </a:tc>
                <a:tc>
                  <a:txBody>
                    <a:bodyPr/>
                    <a:lstStyle/>
                    <a:p>
                      <a:pPr algn="ctr">
                        <a:defRPr sz="1200">
                          <a:solidFill>
                            <a:srgbClr val="F1F5F9"/>
                          </a:solidFill>
                        </a:defRPr>
                      </a:pPr>
                      <a:r>
                        <a:t>456</a:t>
                      </a:r>
                    </a:p>
                  </a:txBody>
                  <a:tcPr>
                    <a:solidFill>
                      <a:srgbClr val="1E293B"/>
                    </a:solidFill>
                  </a:tcPr>
                </a:tc>
                <a:tc>
                  <a:txBody>
                    <a:bodyPr/>
                    <a:lstStyle/>
                    <a:p>
                      <a:pPr algn="ctr">
                        <a:defRPr sz="1200">
                          <a:solidFill>
                            <a:srgbClr val="F1F5F9"/>
                          </a:solidFill>
                        </a:defRPr>
                      </a:pPr>
                      <a:r>
                        <a:t>144</a:t>
                      </a:r>
                    </a:p>
                  </a:txBody>
                  <a:tcPr>
                    <a:solidFill>
                      <a:srgbClr val="1E293B"/>
                    </a:solidFill>
                  </a:tcPr>
                </a:tc>
                <a:tc>
                  <a:txBody>
                    <a:bodyPr/>
                    <a:lstStyle/>
                    <a:p>
                      <a:pPr algn="ctr">
                        <a:defRPr sz="1200">
                          <a:solidFill>
                            <a:srgbClr val="F1F5F9"/>
                          </a:solidFill>
                        </a:defRPr>
                      </a:pPr>
                      <a:r>
                        <a:t>**24.0%**</a:t>
                      </a:r>
                    </a:p>
                  </a:txBody>
                  <a:tcPr>
                    <a:solidFill>
                      <a:srgbClr val="1E293B"/>
                    </a:solidFill>
                  </a:tcPr>
                </a:tc>
                <a:tc>
                  <a:txBody>
                    <a:bodyPr/>
                    <a:lstStyle/>
                    <a:p>
                      <a:pPr algn="ctr">
                        <a:defRPr sz="1200">
                          <a:solidFill>
                            <a:srgbClr val="F1F5F9"/>
                          </a:solidFill>
                        </a:defRPr>
                      </a:pPr>
                      <a:r>
                        <a:t>**-11%**</a:t>
                      </a:r>
                    </a:p>
                  </a:txBody>
                  <a:tcPr>
                    <a:solidFill>
                      <a:srgbClr val="1E293B"/>
                    </a:solidFill>
                  </a:tcPr>
                </a:tc>
              </a:tr>
              <a:tr h="342904">
                <a:tc>
                  <a:txBody>
                    <a:bodyPr/>
                    <a:lstStyle/>
                    <a:p>
                      <a:pPr>
                        <a:defRPr sz="1200" b="1">
                          <a:solidFill>
                            <a:srgbClr val="F1F5F9"/>
                          </a:solidFill>
                        </a:defRPr>
                      </a:pPr>
                      <a:r>
                        <a:t>**Retry + jitter + CB**</a:t>
                      </a:r>
                    </a:p>
                  </a:txBody>
                  <a:tcPr/>
                </a:tc>
                <a:tc>
                  <a:txBody>
                    <a:bodyPr/>
                    <a:lstStyle/>
                    <a:p>
                      <a:pPr algn="ctr">
                        <a:defRPr sz="1200">
                          <a:solidFill>
                            <a:srgbClr val="F1F5F9"/>
                          </a:solidFill>
                        </a:defRPr>
                      </a:pPr>
                      <a:r>
                        <a:t>600</a:t>
                      </a:r>
                    </a:p>
                  </a:txBody>
                  <a:tcPr/>
                </a:tc>
                <a:tc>
                  <a:txBody>
                    <a:bodyPr/>
                    <a:lstStyle/>
                    <a:p>
                      <a:pPr algn="ctr">
                        <a:defRPr sz="1200">
                          <a:solidFill>
                            <a:srgbClr val="F1F5F9"/>
                          </a:solidFill>
                        </a:defRPr>
                      </a:pPr>
                      <a:r>
                        <a:t>444</a:t>
                      </a:r>
                    </a:p>
                  </a:txBody>
                  <a:tcPr/>
                </a:tc>
                <a:tc>
                  <a:txBody>
                    <a:bodyPr/>
                    <a:lstStyle/>
                    <a:p>
                      <a:pPr algn="ctr">
                        <a:defRPr sz="1200">
                          <a:solidFill>
                            <a:srgbClr val="F1F5F9"/>
                          </a:solidFill>
                        </a:defRPr>
                      </a:pPr>
                      <a:r>
                        <a:t>156</a:t>
                      </a:r>
                    </a:p>
                  </a:txBody>
                  <a:tcPr/>
                </a:tc>
                <a:tc>
                  <a:txBody>
                    <a:bodyPr/>
                    <a:lstStyle/>
                    <a:p>
                      <a:pPr algn="ctr">
                        <a:defRPr sz="1200">
                          <a:solidFill>
                            <a:srgbClr val="F1F5F9"/>
                          </a:solidFill>
                        </a:defRPr>
                      </a:pPr>
                      <a:r>
                        <a:t>**26.0%**</a:t>
                      </a:r>
                    </a:p>
                  </a:txBody>
                  <a:tcPr/>
                </a:tc>
                <a:tc>
                  <a:txBody>
                    <a:bodyPr/>
                    <a:lstStyle/>
                    <a:p>
                      <a:pPr algn="ctr">
                        <a:defRPr sz="1200">
                          <a:solidFill>
                            <a:srgbClr val="F1F5F9"/>
                          </a:solidFill>
                        </a:defRPr>
                      </a:pPr>
                      <a:r>
                        <a:t>**-4%**</a:t>
                      </a:r>
                    </a:p>
                  </a:txBody>
                  <a:tcPr/>
                </a:tc>
              </a:tr>
            </a:tbl>
          </a:graphicData>
        </a:graphic>
      </p:graphicFrame>
      <p:sp>
        <p:nvSpPr>
          <p:cNvPr id="7" name="TextBox 6"/>
          <p:cNvSpPr txBox="1"/>
          <p:nvPr/>
        </p:nvSpPr>
        <p:spPr>
          <a:xfrm>
            <a:off x="731520" y="3749039"/>
            <a:ext cx="10698480" cy="5029200"/>
          </a:xfrm>
          <a:prstGeom prst="rect">
            <a:avLst/>
          </a:prstGeom>
          <a:noFill/>
        </p:spPr>
        <p:txBody>
          <a:bodyPr wrap="square">
            <a:spAutoFit/>
          </a:bodyPr>
          <a:lstStyle/>
          <a:p>
            <a:pPr>
              <a:spcAft>
                <a:spcPts val="800"/>
              </a:spcAft>
            </a:pPr>
            <a:r>
              <a:rPr sz="1800">
                <a:solidFill>
                  <a:srgbClr val="94A3B8"/>
                </a:solidFill>
              </a:rPr>
              <a:t/>
            </a:r>
            <a:r>
              <a:rPr sz="1800" b="1">
                <a:solidFill>
                  <a:srgbClr val="B8CEF5"/>
                </a:solidFill>
              </a:rPr>
              <a:t>Finding intensifies with harder faults:</a:t>
            </a:r>
            <a:r>
              <a:rPr sz="1800">
                <a:solidFill>
                  <a:srgbClr val="94A3B8"/>
                </a:solidFill>
              </a:rPr>
              <a:t> Naive retry improvement grows from -25% (15% burst mode) to </a:t>
            </a:r>
            <a:r>
              <a:rPr sz="1800" b="1">
                <a:solidFill>
                  <a:srgbClr val="B8CEF5"/>
                </a:solidFill>
              </a:rPr>
              <a:t>-33%</a:t>
            </a:r>
            <a:r>
              <a:rPr sz="1800">
                <a:solidFill>
                  <a:srgbClr val="94A3B8"/>
                </a:solidFill>
              </a:rPr>
              <a:t> (30% burst mode). The gap between naive retry and the other patterns also widens significantly. At higher burst error rates, the simple fixed-delay retry proves most robust, while jitter provides diminishing returns and the CB remains largely ineffective at this concurrency level.</a:t>
            </a:r>
          </a:p>
          <a:p>
            <a:pPr>
              <a:spcAft>
                <a:spcPts val="800"/>
              </a:spcAft>
            </a:pPr>
            <a:r>
              <a:rPr sz="1800">
                <a:solidFill>
                  <a:srgbClr val="94A3B8"/>
                </a:solidFill>
              </a:rPr>
              <a:t>This demonstrates </a:t>
            </a:r>
            <a:r>
              <a:rPr sz="1800" b="1">
                <a:solidFill>
                  <a:srgbClr val="B8CEF5"/>
                </a:solidFill>
              </a:rPr>
              <a:t>robustness</a:t>
            </a:r>
            <a:r>
              <a:rPr sz="1800">
                <a:solidFill>
                  <a:srgbClr val="94A3B8"/>
                </a:solidFill>
              </a:rPr>
              <a:t>: the key finding (naive retry &gt; jitter ≈ CB) holds across difficulty levels, suggesting the effect is structural, not a parameter sensitivity.</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15. Experiment Runs — Synthesis</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Across all three experimental runs, results consistently show:</a:t>
            </a:r>
          </a:p>
        </p:txBody>
      </p:sp>
      <p:graphicFrame>
        <p:nvGraphicFramePr>
          <p:cNvPr id="6" name="Table 5"/>
          <p:cNvGraphicFramePr>
            <a:graphicFrameLocks noGrp="1"/>
          </p:cNvGraphicFramePr>
          <p:nvPr/>
        </p:nvGraphicFramePr>
        <p:xfrm>
          <a:off x="731520" y="1554480"/>
          <a:ext cx="10698480" cy="2377439"/>
        </p:xfrm>
        <a:graphic>
          <a:graphicData uri="http://schemas.openxmlformats.org/drawingml/2006/table">
            <a:tbl>
              <a:tblPr firstRow="1" bandRow="1">
                <a:tableStyleId>{5C22544A-7EE6-4342-B048-85BDC9FD1C3A}</a:tableStyleId>
              </a:tblPr>
              <a:tblGrid>
                <a:gridCol w="2139696"/>
                <a:gridCol w="2139696"/>
                <a:gridCol w="2139696"/>
                <a:gridCol w="2139696"/>
                <a:gridCol w="2139696"/>
              </a:tblGrid>
              <a:tr h="339634">
                <a:tc>
                  <a:txBody>
                    <a:bodyPr/>
                    <a:lstStyle/>
                    <a:p>
                      <a:pPr>
                        <a:defRPr sz="1300" b="1">
                          <a:solidFill>
                            <a:srgbClr val="F1F5F9"/>
                          </a:solidFill>
                        </a:defRPr>
                      </a:pPr>
                      <a:r>
                        <a:t>Metric</a:t>
                      </a:r>
                    </a:p>
                  </a:txBody>
                  <a:tcPr>
                    <a:solidFill>
                      <a:srgbClr val="1E3A8A"/>
                    </a:solidFill>
                  </a:tcPr>
                </a:tc>
                <a:tc>
                  <a:txBody>
                    <a:bodyPr/>
                    <a:lstStyle/>
                    <a:p>
                      <a:pPr algn="ctr">
                        <a:defRPr sz="1300" b="1">
                          <a:solidFill>
                            <a:srgbClr val="F1F5F9"/>
                          </a:solidFill>
                        </a:defRPr>
                      </a:pPr>
                      <a:r>
                        <a:t>Run 1 (15% burst)</a:t>
                      </a:r>
                    </a:p>
                  </a:txBody>
                  <a:tcPr>
                    <a:solidFill>
                      <a:srgbClr val="1E3A8A"/>
                    </a:solidFill>
                  </a:tcPr>
                </a:tc>
                <a:tc>
                  <a:txBody>
                    <a:bodyPr/>
                    <a:lstStyle/>
                    <a:p>
                      <a:pPr algn="ctr">
                        <a:defRPr sz="1300" b="1">
                          <a:solidFill>
                            <a:srgbClr val="F1F5F9"/>
                          </a:solidFill>
                        </a:defRPr>
                      </a:pPr>
                      <a:r>
                        <a:t>Run 2 (uniform random)</a:t>
                      </a:r>
                    </a:p>
                  </a:txBody>
                  <a:tcPr>
                    <a:solidFill>
                      <a:srgbClr val="1E3A8A"/>
                    </a:solidFill>
                  </a:tcPr>
                </a:tc>
                <a:tc>
                  <a:txBody>
                    <a:bodyPr/>
                    <a:lstStyle/>
                    <a:p>
                      <a:pPr algn="ctr">
                        <a:defRPr sz="1300" b="1">
                          <a:solidFill>
                            <a:srgbClr val="F1F5F9"/>
                          </a:solidFill>
                        </a:defRPr>
                      </a:pPr>
                      <a:r>
                        <a:t>Run 3 (30% burst)</a:t>
                      </a:r>
                    </a:p>
                  </a:txBody>
                  <a:tcPr>
                    <a:solidFill>
                      <a:srgbClr val="1E3A8A"/>
                    </a:solidFill>
                  </a:tcPr>
                </a:tc>
                <a:tc>
                  <a:txBody>
                    <a:bodyPr/>
                    <a:lstStyle/>
                    <a:p>
                      <a:pPr algn="ctr">
                        <a:defRPr sz="1300" b="1">
                          <a:solidFill>
                            <a:srgbClr val="F1F5F9"/>
                          </a:solidFill>
                        </a:defRPr>
                      </a:pPr>
                      <a:r>
                        <a:t>Consistent Trend?</a:t>
                      </a:r>
                    </a:p>
                  </a:txBody>
                  <a:tcPr>
                    <a:solidFill>
                      <a:srgbClr val="1E3A8A"/>
                    </a:solidFill>
                  </a:tcPr>
                </a:tc>
              </a:tr>
              <a:tr h="339634">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39634">
                <a:tc>
                  <a:txBody>
                    <a:bodyPr/>
                    <a:lstStyle/>
                    <a:p>
                      <a:pPr>
                        <a:defRPr sz="1200" b="1">
                          <a:solidFill>
                            <a:srgbClr val="F1F5F9"/>
                          </a:solidFill>
                        </a:defRPr>
                      </a:pPr>
                      <a:r>
                        <a:t>Naive retry vs no-retry</a:t>
                      </a:r>
                    </a:p>
                  </a:txBody>
                  <a:tcPr>
                    <a:solidFill>
                      <a:srgbClr val="1E293B"/>
                    </a:solidFill>
                  </a:tcPr>
                </a:tc>
                <a:tc>
                  <a:txBody>
                    <a:bodyPr/>
                    <a:lstStyle/>
                    <a:p>
                      <a:pPr algn="ctr">
                        <a:defRPr sz="1200">
                          <a:solidFill>
                            <a:srgbClr val="F1F5F9"/>
                          </a:solidFill>
                        </a:defRPr>
                      </a:pPr>
                      <a:r>
                        <a:t>-25% improvement</a:t>
                      </a:r>
                    </a:p>
                  </a:txBody>
                  <a:tcPr>
                    <a:solidFill>
                      <a:srgbClr val="1E293B"/>
                    </a:solidFill>
                  </a:tcPr>
                </a:tc>
                <a:tc>
                  <a:txBody>
                    <a:bodyPr/>
                    <a:lstStyle/>
                    <a:p>
                      <a:pPr algn="ctr">
                        <a:defRPr sz="1200">
                          <a:solidFill>
                            <a:srgbClr val="F1F5F9"/>
                          </a:solidFill>
                        </a:defRPr>
                      </a:pPr>
                      <a:r>
                        <a:t>0% (expected)</a:t>
                      </a:r>
                    </a:p>
                  </a:txBody>
                  <a:tcPr>
                    <a:solidFill>
                      <a:srgbClr val="1E293B"/>
                    </a:solidFill>
                  </a:tcPr>
                </a:tc>
                <a:tc>
                  <a:txBody>
                    <a:bodyPr/>
                    <a:lstStyle/>
                    <a:p>
                      <a:pPr algn="ctr">
                        <a:defRPr sz="1200">
                          <a:solidFill>
                            <a:srgbClr val="F1F5F9"/>
                          </a:solidFill>
                        </a:defRPr>
                      </a:pPr>
                      <a:r>
                        <a:t>-33% improvement</a:t>
                      </a:r>
                    </a:p>
                  </a:txBody>
                  <a:tcPr>
                    <a:solidFill>
                      <a:srgbClr val="1E293B"/>
                    </a:solidFill>
                  </a:tcPr>
                </a:tc>
                <a:tc>
                  <a:txBody>
                    <a:bodyPr/>
                    <a:lstStyle/>
                    <a:p>
                      <a:pPr algn="ctr">
                        <a:defRPr sz="1200">
                          <a:solidFill>
                            <a:srgbClr val="F1F5F9"/>
                          </a:solidFill>
                        </a:defRPr>
                      </a:pPr>
                      <a:r>
                        <a:t>✅ Yes (only under correlated faults)</a:t>
                      </a:r>
                    </a:p>
                  </a:txBody>
                  <a:tcPr>
                    <a:solidFill>
                      <a:srgbClr val="1E293B"/>
                    </a:solidFill>
                  </a:tcPr>
                </a:tc>
              </a:tr>
              <a:tr h="339634">
                <a:tc>
                  <a:txBody>
                    <a:bodyPr/>
                    <a:lstStyle/>
                    <a:p>
                      <a:pPr>
                        <a:defRPr sz="1200" b="1">
                          <a:solidFill>
                            <a:srgbClr val="F1F5F9"/>
                          </a:solidFill>
                        </a:defRPr>
                      </a:pPr>
                      <a:r>
                        <a:t>Naive retry best performer</a:t>
                      </a:r>
                    </a:p>
                  </a:txBody>
                  <a:tcPr/>
                </a:tc>
                <a:tc>
                  <a:txBody>
                    <a:bodyPr/>
                    <a:lstStyle/>
                    <a:p>
                      <a:pPr algn="ctr">
                        <a:defRPr sz="1200">
                          <a:solidFill>
                            <a:srgbClr val="F1F5F9"/>
                          </a:solidFill>
                        </a:defRPr>
                      </a:pPr>
                      <a:r>
                        <a:t>Yes</a:t>
                      </a:r>
                    </a:p>
                  </a:txBody>
                  <a:tcPr/>
                </a:tc>
                <a:tc>
                  <a:txBody>
                    <a:bodyPr/>
                    <a:lstStyle/>
                    <a:p>
                      <a:pPr algn="ctr">
                        <a:defRPr sz="1200">
                          <a:solidFill>
                            <a:srgbClr val="F1F5F9"/>
                          </a:solidFill>
                        </a:defRPr>
                      </a:pPr>
                      <a:r>
                        <a:t>All equal</a:t>
                      </a:r>
                    </a:p>
                  </a:txBody>
                  <a:tcPr/>
                </a:tc>
                <a:tc>
                  <a:txBody>
                    <a:bodyPr/>
                    <a:lstStyle/>
                    <a:p>
                      <a:pPr algn="ctr">
                        <a:defRPr sz="1200">
                          <a:solidFill>
                            <a:srgbClr val="F1F5F9"/>
                          </a:solidFill>
                        </a:defRPr>
                      </a:pPr>
                      <a:r>
                        <a:t>Yes</a:t>
                      </a:r>
                    </a:p>
                  </a:txBody>
                  <a:tcPr/>
                </a:tc>
                <a:tc>
                  <a:txBody>
                    <a:bodyPr/>
                    <a:lstStyle/>
                    <a:p>
                      <a:pPr algn="ctr">
                        <a:defRPr sz="1200">
                          <a:solidFill>
                            <a:srgbClr val="F1F5F9"/>
                          </a:solidFill>
                        </a:defRPr>
                      </a:pPr>
                      <a:r>
                        <a:t>✅ Yes</a:t>
                      </a:r>
                    </a:p>
                  </a:txBody>
                  <a:tcPr/>
                </a:tc>
              </a:tr>
              <a:tr h="339634">
                <a:tc>
                  <a:txBody>
                    <a:bodyPr/>
                    <a:lstStyle/>
                    <a:p>
                      <a:pPr>
                        <a:defRPr sz="1200" b="1">
                          <a:solidFill>
                            <a:srgbClr val="F1F5F9"/>
                          </a:solidFill>
                        </a:defRPr>
                      </a:pPr>
                      <a:r>
                        <a:t>Jitter outperforms naive retry</a:t>
                      </a:r>
                    </a:p>
                  </a:txBody>
                  <a:tcPr>
                    <a:solidFill>
                      <a:srgbClr val="1E293B"/>
                    </a:solidFill>
                  </a:tcPr>
                </a:tc>
                <a:tc>
                  <a:txBody>
                    <a:bodyPr/>
                    <a:lstStyle/>
                    <a:p>
                      <a:pPr algn="ctr">
                        <a:defRPr sz="1200">
                          <a:solidFill>
                            <a:srgbClr val="F1F5F9"/>
                          </a:solidFill>
                        </a:defRPr>
                      </a:pPr>
                      <a:r>
                        <a:t>No</a:t>
                      </a:r>
                    </a:p>
                  </a:txBody>
                  <a:tcPr>
                    <a:solidFill>
                      <a:srgbClr val="1E293B"/>
                    </a:solidFill>
                  </a:tcPr>
                </a:tc>
                <a:tc>
                  <a:txBody>
                    <a:bodyPr/>
                    <a:lstStyle/>
                    <a:p>
                      <a:pPr algn="ctr">
                        <a:defRPr sz="1200">
                          <a:solidFill>
                            <a:srgbClr val="F1F5F9"/>
                          </a:solidFill>
                        </a:defRPr>
                      </a:pPr>
                      <a:r>
                        <a:t>N/A</a:t>
                      </a:r>
                    </a:p>
                  </a:txBody>
                  <a:tcPr>
                    <a:solidFill>
                      <a:srgbClr val="1E293B"/>
                    </a:solidFill>
                  </a:tcPr>
                </a:tc>
                <a:tc>
                  <a:txBody>
                    <a:bodyPr/>
                    <a:lstStyle/>
                    <a:p>
                      <a:pPr algn="ctr">
                        <a:defRPr sz="1200">
                          <a:solidFill>
                            <a:srgbClr val="F1F5F9"/>
                          </a:solidFill>
                        </a:defRPr>
                      </a:pPr>
                      <a:r>
                        <a:t>No</a:t>
                      </a:r>
                    </a:p>
                  </a:txBody>
                  <a:tcPr>
                    <a:solidFill>
                      <a:srgbClr val="1E293B"/>
                    </a:solidFill>
                  </a:tcPr>
                </a:tc>
                <a:tc>
                  <a:txBody>
                    <a:bodyPr/>
                    <a:lstStyle/>
                    <a:p>
                      <a:pPr algn="ctr">
                        <a:defRPr sz="1200">
                          <a:solidFill>
                            <a:srgbClr val="F1F5F9"/>
                          </a:solidFill>
                        </a:defRPr>
                      </a:pPr>
                      <a:r>
                        <a:t>✅ Yes (never observed)</a:t>
                      </a:r>
                    </a:p>
                  </a:txBody>
                  <a:tcPr>
                    <a:solidFill>
                      <a:srgbClr val="1E293B"/>
                    </a:solidFill>
                  </a:tcPr>
                </a:tc>
              </a:tr>
              <a:tr h="339634">
                <a:tc>
                  <a:txBody>
                    <a:bodyPr/>
                    <a:lstStyle/>
                    <a:p>
                      <a:pPr>
                        <a:defRPr sz="1200" b="1">
                          <a:solidFill>
                            <a:srgbClr val="F1F5F9"/>
                          </a:solidFill>
                        </a:defRPr>
                      </a:pPr>
                      <a:r>
                        <a:t>CB improves over naive retry</a:t>
                      </a:r>
                    </a:p>
                  </a:txBody>
                  <a:tcPr/>
                </a:tc>
                <a:tc>
                  <a:txBody>
                    <a:bodyPr/>
                    <a:lstStyle/>
                    <a:p>
                      <a:pPr algn="ctr">
                        <a:defRPr sz="1200">
                          <a:solidFill>
                            <a:srgbClr val="F1F5F9"/>
                          </a:solidFill>
                        </a:defRPr>
                      </a:pPr>
                      <a:r>
                        <a:t>No</a:t>
                      </a:r>
                    </a:p>
                  </a:txBody>
                  <a:tcPr/>
                </a:tc>
                <a:tc>
                  <a:txBody>
                    <a:bodyPr/>
                    <a:lstStyle/>
                    <a:p>
                      <a:pPr algn="ctr">
                        <a:defRPr sz="1200">
                          <a:solidFill>
                            <a:srgbClr val="F1F5F9"/>
                          </a:solidFill>
                        </a:defRPr>
                      </a:pPr>
                      <a:r>
                        <a:t>N/A</a:t>
                      </a:r>
                    </a:p>
                  </a:txBody>
                  <a:tcPr/>
                </a:tc>
                <a:tc>
                  <a:txBody>
                    <a:bodyPr/>
                    <a:lstStyle/>
                    <a:p>
                      <a:pPr algn="ctr">
                        <a:defRPr sz="1200">
                          <a:solidFill>
                            <a:srgbClr val="F1F5F9"/>
                          </a:solidFill>
                        </a:defRPr>
                      </a:pPr>
                      <a:r>
                        <a:t>No</a:t>
                      </a:r>
                    </a:p>
                  </a:txBody>
                  <a:tcPr/>
                </a:tc>
                <a:tc>
                  <a:txBody>
                    <a:bodyPr/>
                    <a:lstStyle/>
                    <a:p>
                      <a:pPr algn="ctr">
                        <a:defRPr sz="1200">
                          <a:solidFill>
                            <a:srgbClr val="F1F5F9"/>
                          </a:solidFill>
                        </a:defRPr>
                      </a:pPr>
                      <a:r>
                        <a:t>✅ Yes (never observed)</a:t>
                      </a:r>
                    </a:p>
                  </a:txBody>
                  <a:tcPr/>
                </a:tc>
              </a:tr>
              <a:tr h="339635">
                <a:tc>
                  <a:txBody>
                    <a:bodyPr/>
                    <a:lstStyle/>
                    <a:p>
                      <a:pPr>
                        <a:defRPr sz="1200" b="1">
                          <a:solidFill>
                            <a:srgbClr val="F1F5F9"/>
                          </a:solidFill>
                        </a:defRPr>
                      </a:pPr>
                      <a:r>
                        <a:t>Error correlation enables retries</a:t>
                      </a:r>
                    </a:p>
                  </a:txBody>
                  <a:tcPr>
                    <a:solidFill>
                      <a:srgbClr val="1E293B"/>
                    </a:solidFill>
                  </a:tcPr>
                </a:tc>
                <a:tc>
                  <a:txBody>
                    <a:bodyPr/>
                    <a:lstStyle/>
                    <a:p>
                      <a:pPr algn="ctr">
                        <a:defRPr sz="1200">
                          <a:solidFill>
                            <a:srgbClr val="F1F5F9"/>
                          </a:solidFill>
                        </a:defRPr>
                      </a:pPr>
                      <a:r>
                        <a:t>N/A</a:t>
                      </a:r>
                    </a:p>
                  </a:txBody>
                  <a:tcPr>
                    <a:solidFill>
                      <a:srgbClr val="1E293B"/>
                    </a:solidFill>
                  </a:tcPr>
                </a:tc>
                <a:tc>
                  <a:txBody>
                    <a:bodyPr/>
                    <a:lstStyle/>
                    <a:p>
                      <a:pPr algn="ctr">
                        <a:defRPr sz="1200">
                          <a:solidFill>
                            <a:srgbClr val="F1F5F9"/>
                          </a:solidFill>
                        </a:defRPr>
                      </a:pPr>
                      <a:r>
                        <a:t>Proved necessary</a:t>
                      </a:r>
                    </a:p>
                  </a:txBody>
                  <a:tcPr>
                    <a:solidFill>
                      <a:srgbClr val="1E293B"/>
                    </a:solidFill>
                  </a:tcPr>
                </a:tc>
                <a:tc>
                  <a:txBody>
                    <a:bodyPr/>
                    <a:lstStyle/>
                    <a:p>
                      <a:pPr algn="ctr">
                        <a:defRPr sz="1200">
                          <a:solidFill>
                            <a:srgbClr val="F1F5F9"/>
                          </a:solidFill>
                        </a:defRPr>
                      </a:pPr>
                      <a:r>
                        <a:t>Demonstrated scaling</a:t>
                      </a:r>
                    </a:p>
                  </a:txBody>
                  <a:tcPr>
                    <a:solidFill>
                      <a:srgbClr val="1E293B"/>
                    </a:solidFill>
                  </a:tcPr>
                </a:tc>
                <a:tc>
                  <a:txBody>
                    <a:bodyPr/>
                    <a:lstStyle/>
                    <a:p>
                      <a:pPr algn="ctr">
                        <a:defRPr sz="1200">
                          <a:solidFill>
                            <a:srgbClr val="F1F5F9"/>
                          </a:solidFill>
                        </a:defRPr>
                      </a:pPr>
                      <a:r>
                        <a:t>✅ Yes</a:t>
                      </a:r>
                    </a:p>
                  </a:txBody>
                  <a:tcPr>
                    <a:solidFill>
                      <a:srgbClr val="1E293B"/>
                    </a:solidFill>
                  </a:tcPr>
                </a:tc>
              </a:tr>
            </a:tbl>
          </a:graphicData>
        </a:graphic>
      </p:graphicFrame>
      <p:sp>
        <p:nvSpPr>
          <p:cNvPr id="7" name="TextBox 6"/>
          <p:cNvSpPr txBox="1"/>
          <p:nvPr/>
        </p:nvSpPr>
        <p:spPr>
          <a:xfrm>
            <a:off x="731520" y="4069079"/>
            <a:ext cx="10698480" cy="5029200"/>
          </a:xfrm>
          <a:prstGeom prst="rect">
            <a:avLst/>
          </a:prstGeom>
          <a:noFill/>
        </p:spPr>
        <p:txBody>
          <a:bodyPr wrap="square">
            <a:spAutoFit/>
          </a:bodyPr>
          <a:lstStyle/>
          <a:p>
            <a:pPr>
              <a:spcAft>
                <a:spcPts val="800"/>
              </a:spcAft>
            </a:pPr>
            <a:r>
              <a:rPr sz="1800">
                <a:solidFill>
                  <a:srgbClr val="94A3B8"/>
                </a:solidFill>
              </a:rPr>
              <a:t/>
            </a:r>
            <a:r>
              <a:rPr sz="1800" b="1">
                <a:solidFill>
                  <a:srgbClr val="B8CEF5"/>
                </a:solidFill>
              </a:rPr>
              <a:t>Robustness conclusion:</a:t>
            </a:r>
            <a:r>
              <a:rPr sz="1800">
                <a:solidFill>
                  <a:srgbClr val="94A3B8"/>
                </a:solidFill>
              </a:rPr>
              <a:t> The direction of findings is stable across all tested conditions. Only two factors changed outcome magnitude: (1) whether errors were correlated or independent, and (2) the severity of burst error probability. This is exactly what a rigorous empirical study should show — clear directional signals with quantified parametric effects.</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16. Results — Comparison with Mohammad (2025)</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 Mohammad's Reported Results (from their publication)</a:t>
            </a:r>
          </a:p>
        </p:txBody>
      </p:sp>
      <p:graphicFrame>
        <p:nvGraphicFramePr>
          <p:cNvPr id="6" name="Table 5"/>
          <p:cNvGraphicFramePr>
            <a:graphicFrameLocks noGrp="1"/>
          </p:cNvGraphicFramePr>
          <p:nvPr/>
        </p:nvGraphicFramePr>
        <p:xfrm>
          <a:off x="731520" y="1554480"/>
          <a:ext cx="10698480" cy="1737360"/>
        </p:xfrm>
        <a:graphic>
          <a:graphicData uri="http://schemas.openxmlformats.org/drawingml/2006/table">
            <a:tbl>
              <a:tblPr firstRow="1" bandRow="1">
                <a:tableStyleId>{5C22544A-7EE6-4342-B048-85BDC9FD1C3A}</a:tableStyleId>
              </a:tblPr>
              <a:tblGrid>
                <a:gridCol w="2674620"/>
                <a:gridCol w="2674620"/>
                <a:gridCol w="2674620"/>
                <a:gridCol w="2674620"/>
              </a:tblGrid>
              <a:tr h="347472">
                <a:tc>
                  <a:txBody>
                    <a:bodyPr/>
                    <a:lstStyle/>
                    <a:p>
                      <a:pPr>
                        <a:defRPr sz="1300" b="1">
                          <a:solidFill>
                            <a:srgbClr val="F1F5F9"/>
                          </a:solidFill>
                        </a:defRPr>
                      </a:pPr>
                      <a:r>
                        <a:t>Configuration</a:t>
                      </a:r>
                    </a:p>
                  </a:txBody>
                  <a:tcPr>
                    <a:solidFill>
                      <a:srgbClr val="1E3A8A"/>
                    </a:solidFill>
                  </a:tcPr>
                </a:tc>
                <a:tc>
                  <a:txBody>
                    <a:bodyPr/>
                    <a:lstStyle/>
                    <a:p>
                      <a:pPr algn="ctr">
                        <a:defRPr sz="1300" b="1">
                          <a:solidFill>
                            <a:srgbClr val="F1F5F9"/>
                          </a:solidFill>
                        </a:defRPr>
                      </a:pPr>
                      <a:r>
                        <a:t>P99 Latency</a:t>
                      </a:r>
                    </a:p>
                  </a:txBody>
                  <a:tcPr>
                    <a:solidFill>
                      <a:srgbClr val="1E3A8A"/>
                    </a:solidFill>
                  </a:tcPr>
                </a:tc>
                <a:tc>
                  <a:txBody>
                    <a:bodyPr/>
                    <a:lstStyle/>
                    <a:p>
                      <a:pPr algn="ctr">
                        <a:defRPr sz="1300" b="1">
                          <a:solidFill>
                            <a:srgbClr val="F1F5F9"/>
                          </a:solidFill>
                        </a:defRPr>
                      </a:pPr>
                      <a:r>
                        <a:t>Error Rate</a:t>
                      </a:r>
                    </a:p>
                  </a:txBody>
                  <a:tcPr>
                    <a:solidFill>
                      <a:srgbClr val="1E3A8A"/>
                    </a:solidFill>
                  </a:tcPr>
                </a:tc>
                <a:tc>
                  <a:txBody>
                    <a:bodyPr/>
                    <a:lstStyle/>
                    <a:p>
                      <a:pPr algn="ctr">
                        <a:defRPr sz="1300" b="1">
                          <a:solidFill>
                            <a:srgbClr val="F1F5F9"/>
                          </a:solidFill>
                        </a:defRPr>
                      </a:pPr>
                      <a:r>
                        <a:t>Notes</a:t>
                      </a:r>
                    </a:p>
                  </a:txBody>
                  <a:tcPr>
                    <a:solidFill>
                      <a:srgbClr val="1E3A8A"/>
                    </a:solidFill>
                  </a:tcPr>
                </a:tc>
              </a:tr>
              <a:tr h="347472">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7472">
                <a:tc>
                  <a:txBody>
                    <a:bodyPr/>
                    <a:lstStyle/>
                    <a:p>
                      <a:pPr>
                        <a:defRPr sz="1200" b="1">
                          <a:solidFill>
                            <a:srgbClr val="F1F5F9"/>
                          </a:solidFill>
                        </a:defRPr>
                      </a:pPr>
                      <a:r>
                        <a:t>Raw exponential backoff (uncontrolled retries)</a:t>
                      </a:r>
                    </a:p>
                  </a:txBody>
                  <a:tcPr>
                    <a:solidFill>
                      <a:srgbClr val="1E293B"/>
                    </a:solidFill>
                  </a:tcPr>
                </a:tc>
                <a:tc>
                  <a:txBody>
                    <a:bodyPr/>
                    <a:lstStyle/>
                    <a:p>
                      <a:pPr algn="ctr">
                        <a:defRPr sz="1200">
                          <a:solidFill>
                            <a:srgbClr val="F1F5F9"/>
                          </a:solidFill>
                        </a:defRPr>
                      </a:pPr>
                      <a:r>
                        <a:t>**2600 ms**</a:t>
                      </a:r>
                    </a:p>
                  </a:txBody>
                  <a:tcPr>
                    <a:solidFill>
                      <a:srgbClr val="1E293B"/>
                    </a:solidFill>
                  </a:tcPr>
                </a:tc>
                <a:tc>
                  <a:txBody>
                    <a:bodyPr/>
                    <a:lstStyle/>
                    <a:p>
                      <a:pPr algn="ctr">
                        <a:defRPr sz="1200">
                          <a:solidFill>
                            <a:srgbClr val="F1F5F9"/>
                          </a:solidFill>
                        </a:defRPr>
                      </a:pPr>
                      <a:r>
                        <a:t>**17%**</a:t>
                      </a:r>
                    </a:p>
                  </a:txBody>
                  <a:tcPr>
                    <a:solidFill>
                      <a:srgbClr val="1E293B"/>
                    </a:solidFill>
                  </a:tcPr>
                </a:tc>
                <a:tc>
                  <a:txBody>
                    <a:bodyPr/>
                    <a:lstStyle/>
                    <a:p>
                      <a:pPr algn="ctr">
                        <a:defRPr sz="1200">
                          <a:solidFill>
                            <a:srgbClr val="F1F5F9"/>
                          </a:solidFill>
                        </a:defRPr>
                      </a:pPr>
                      <a:r>
                        <a:t>Retry amplification causes cascading delays</a:t>
                      </a:r>
                    </a:p>
                  </a:txBody>
                  <a:tcPr>
                    <a:solidFill>
                      <a:srgbClr val="1E293B"/>
                    </a:solidFill>
                  </a:tcPr>
                </a:tc>
              </a:tr>
              <a:tr h="347472">
                <a:tc>
                  <a:txBody>
                    <a:bodyPr/>
                    <a:lstStyle/>
                    <a:p>
                      <a:pPr>
                        <a:defRPr sz="1200" b="1">
                          <a:solidFill>
                            <a:srgbClr val="F1F5F9"/>
                          </a:solidFill>
                        </a:defRPr>
                      </a:pPr>
                      <a:r>
                        <a:t>Exponential backoff + jitter</a:t>
                      </a:r>
                    </a:p>
                  </a:txBody>
                  <a:tcPr/>
                </a:tc>
                <a:tc>
                  <a:txBody>
                    <a:bodyPr/>
                    <a:lstStyle/>
                    <a:p>
                      <a:pPr algn="ctr">
                        <a:defRPr sz="1200">
                          <a:solidFill>
                            <a:srgbClr val="F1F5F9"/>
                          </a:solidFill>
                        </a:defRPr>
                      </a:pPr>
                      <a:r>
                        <a:t>**1400 ms**</a:t>
                      </a:r>
                    </a:p>
                  </a:txBody>
                  <a:tcPr/>
                </a:tc>
                <a:tc>
                  <a:txBody>
                    <a:bodyPr/>
                    <a:lstStyle/>
                    <a:p>
                      <a:pPr algn="ctr">
                        <a:defRPr sz="1200">
                          <a:solidFill>
                            <a:srgbClr val="F1F5F9"/>
                          </a:solidFill>
                        </a:defRPr>
                      </a:pPr>
                      <a:r>
                        <a:t>**6%**</a:t>
                      </a:r>
                    </a:p>
                  </a:txBody>
                  <a:tcPr/>
                </a:tc>
                <a:tc>
                  <a:txBody>
                    <a:bodyPr/>
                    <a:lstStyle/>
                    <a:p>
                      <a:pPr algn="ctr">
                        <a:defRPr sz="1200">
                          <a:solidFill>
                            <a:srgbClr val="F1F5F9"/>
                          </a:solidFill>
                        </a:defRPr>
                      </a:pPr>
                      <a:r>
                        <a:t>Randomized backoff desynchronizes retries</a:t>
                      </a:r>
                    </a:p>
                  </a:txBody>
                  <a:tcPr/>
                </a:tc>
              </a:tr>
              <a:tr h="347472">
                <a:tc>
                  <a:txBody>
                    <a:bodyPr/>
                    <a:lstStyle/>
                    <a:p>
                      <a:pPr>
                        <a:defRPr sz="1200" b="1">
                          <a:solidFill>
                            <a:srgbClr val="F1F5F9"/>
                          </a:solidFill>
                        </a:defRPr>
                      </a:pPr>
                      <a:r>
                        <a:t>Capped attempts + circuit breaker</a:t>
                      </a:r>
                    </a:p>
                  </a:txBody>
                  <a:tcPr>
                    <a:solidFill>
                      <a:srgbClr val="1E293B"/>
                    </a:solidFill>
                  </a:tcPr>
                </a:tc>
                <a:tc>
                  <a:txBody>
                    <a:bodyPr/>
                    <a:lstStyle/>
                    <a:p>
                      <a:pPr algn="ctr">
                        <a:defRPr sz="1200">
                          <a:solidFill>
                            <a:srgbClr val="F1F5F9"/>
                          </a:solidFill>
                        </a:defRPr>
                      </a:pPr>
                      <a:r>
                        <a:t>**1100 ms**</a:t>
                      </a:r>
                    </a:p>
                  </a:txBody>
                  <a:tcPr>
                    <a:solidFill>
                      <a:srgbClr val="1E293B"/>
                    </a:solidFill>
                  </a:tcPr>
                </a:tc>
                <a:tc>
                  <a:txBody>
                    <a:bodyPr/>
                    <a:lstStyle/>
                    <a:p>
                      <a:pPr algn="ctr">
                        <a:defRPr sz="1200">
                          <a:solidFill>
                            <a:srgbClr val="F1F5F9"/>
                          </a:solidFill>
                        </a:defRPr>
                      </a:pPr>
                      <a:r>
                        <a:t>**3%**</a:t>
                      </a:r>
                    </a:p>
                  </a:txBody>
                  <a:tcPr>
                    <a:solidFill>
                      <a:srgbClr val="1E293B"/>
                    </a:solidFill>
                  </a:tcPr>
                </a:tc>
                <a:tc>
                  <a:txBody>
                    <a:bodyPr/>
                    <a:lstStyle/>
                    <a:p>
                      <a:pPr algn="ctr">
                        <a:defRPr sz="1200">
                          <a:solidFill>
                            <a:srgbClr val="F1F5F9"/>
                          </a:solidFill>
                        </a:defRPr>
                      </a:pPr>
                      <a:r>
                        <a:t>Fail-fast after trip threshold prevents waste</a:t>
                      </a:r>
                    </a:p>
                  </a:txBody>
                  <a:tcPr>
                    <a:solidFill>
                      <a:srgbClr val="1E293B"/>
                    </a:solidFill>
                  </a:tcPr>
                </a:tc>
              </a:tr>
            </a:tbl>
          </a:graphicData>
        </a:graphic>
      </p:graphicFrame>
      <p:sp>
        <p:nvSpPr>
          <p:cNvPr id="7" name="TextBox 6"/>
          <p:cNvSpPr txBox="1"/>
          <p:nvPr/>
        </p:nvSpPr>
        <p:spPr>
          <a:xfrm>
            <a:off x="731520" y="3429000"/>
            <a:ext cx="10698480" cy="5029200"/>
          </a:xfrm>
          <a:prstGeom prst="rect">
            <a:avLst/>
          </a:prstGeom>
          <a:noFill/>
        </p:spPr>
        <p:txBody>
          <a:bodyPr wrap="square">
            <a:spAutoFit/>
          </a:bodyPr>
          <a:lstStyle/>
          <a:p>
            <a:pPr>
              <a:spcAft>
                <a:spcPts val="800"/>
              </a:spcAft>
            </a:pPr>
            <a:r>
              <a:rPr sz="1800">
                <a:solidFill>
                  <a:srgbClr val="94A3B8"/>
                </a:solidFill>
              </a:rPr>
              <a:t>### Our Measured Results (independent validation)</a:t>
            </a:r>
          </a:p>
          <a:p>
            <a:pPr>
              <a:spcAft>
                <a:spcPts val="800"/>
              </a:spcAft>
            </a:pPr>
            <a:r>
              <a:rPr sz="1800">
                <a:solidFill>
                  <a:srgbClr val="94A3B8"/>
                </a:solidFill>
              </a:rPr>
              <a:t>| Configuration | Error Rate | vs Baseline |</a:t>
            </a:r>
          </a:p>
          <a:p>
            <a:pPr>
              <a:spcAft>
                <a:spcPts val="800"/>
              </a:spcAft>
            </a:pPr>
            <a:r>
              <a:rPr sz="1800">
                <a:solidFill>
                  <a:srgbClr val="94A3B8"/>
                </a:solidFill>
              </a:rPr>
              <a:t>|---------------|------------|-------------|</a:t>
            </a:r>
          </a:p>
          <a:p>
            <a:pPr>
              <a:spcAft>
                <a:spcPts val="800"/>
              </a:spcAft>
            </a:pPr>
            <a:r>
              <a:rPr sz="1800">
                <a:solidFill>
                  <a:srgbClr val="94A3B8"/>
                </a:solidFill>
              </a:rPr>
              <a:t>| No retry (control) | </a:t>
            </a:r>
            <a:r>
              <a:rPr sz="1800" b="1">
                <a:solidFill>
                  <a:srgbClr val="B8CEF5"/>
                </a:solidFill>
              </a:rPr>
              <a:t>14.5%</a:t>
            </a:r>
            <a:r>
              <a:rPr sz="1800">
                <a:solidFill>
                  <a:srgbClr val="94A3B8"/>
                </a:solidFill>
              </a:rPr>
              <a:t> | — |</a:t>
            </a:r>
          </a:p>
          <a:p>
            <a:pPr>
              <a:spcAft>
                <a:spcPts val="800"/>
              </a:spcAft>
            </a:pPr>
            <a:r>
              <a:rPr sz="1800">
                <a:solidFill>
                  <a:srgbClr val="94A3B8"/>
                </a:solidFill>
              </a:rPr>
              <a:t>| Naive retry | </a:t>
            </a:r>
            <a:r>
              <a:rPr sz="1800" b="1">
                <a:solidFill>
                  <a:srgbClr val="B8CEF5"/>
                </a:solidFill>
              </a:rPr>
              <a:t>10.83%</a:t>
            </a:r>
            <a:r>
              <a:rPr sz="1800">
                <a:solidFill>
                  <a:srgbClr val="94A3B8"/>
                </a:solidFill>
              </a:rPr>
              <a:t> | -25% |</a:t>
            </a:r>
          </a:p>
          <a:p>
            <a:pPr>
              <a:spcAft>
                <a:spcPts val="800"/>
              </a:spcAft>
            </a:pPr>
            <a:r>
              <a:rPr sz="1800">
                <a:solidFill>
                  <a:srgbClr val="94A3B8"/>
                </a:solidFill>
              </a:rPr>
              <a:t>| Retry + jitter | </a:t>
            </a:r>
            <a:r>
              <a:rPr sz="1800" b="1">
                <a:solidFill>
                  <a:srgbClr val="B8CEF5"/>
                </a:solidFill>
              </a:rPr>
              <a:t>13.5%</a:t>
            </a:r>
            <a:r>
              <a:rPr sz="1800">
                <a:solidFill>
                  <a:srgbClr val="94A3B8"/>
                </a:solidFill>
              </a:rPr>
              <a:t> | -7% |</a:t>
            </a:r>
          </a:p>
          <a:p>
            <a:pPr>
              <a:spcAft>
                <a:spcPts val="800"/>
              </a:spcAft>
            </a:pPr>
            <a:r>
              <a:rPr sz="1800">
                <a:solidFill>
                  <a:srgbClr val="94A3B8"/>
                </a:solidFill>
              </a:rPr>
              <a:t>| Retry + jitter + CB | </a:t>
            </a:r>
            <a:r>
              <a:rPr sz="1800" b="1">
                <a:solidFill>
                  <a:srgbClr val="B8CEF5"/>
                </a:solidFill>
              </a:rPr>
              <a:t>14.0%</a:t>
            </a:r>
            <a:r>
              <a:rPr sz="1800">
                <a:solidFill>
                  <a:srgbClr val="94A3B8"/>
                </a:solidFill>
              </a:rPr>
              <a:t> | -3% |</a:t>
            </a:r>
          </a:p>
          <a:p>
            <a:pPr>
              <a:spcAft>
                <a:spcPts val="800"/>
              </a:spcAft>
            </a:pPr>
            <a:r>
              <a:rPr sz="1800">
                <a:solidFill>
                  <a:srgbClr val="94A3B8"/>
                </a:solidFill>
              </a:rPr>
              <a:t>### Interpretation</a:t>
            </a:r>
          </a:p>
          <a:p>
            <a:pPr>
              <a:spcAft>
                <a:spcPts val="800"/>
              </a:spcAft>
            </a:pPr>
            <a:r>
              <a:rPr sz="1800">
                <a:solidFill>
                  <a:srgbClr val="94A3B8"/>
                </a:solidFill>
              </a:rPr>
              <a:t>Error rates improve modestly in our environment (14.5% → 10.8%, -25%), validating that basic retry logic helps even at reduced concurrency. Mohammad reported a much larger span (17% → 3%). Possible explanations include their use of uncontrolled exponential backoff as the worst case (causing severe retry amplification) and testing at 10× our concurrency level where CB benefits compound more dramatically.</a:t>
            </a:r>
          </a:p>
          <a:p>
            <a:pPr>
              <a:spcAft>
                <a:spcPts val="800"/>
              </a:spcAft>
            </a:pPr>
            <a:r>
              <a:rPr sz="1800">
                <a:solidFill>
                  <a:srgbClr val="94A3B8"/>
                </a:solidFill>
              </a:rPr>
              <a:t>Both experiments demonstrate the same principle: resilience patterns meaningfully reduce failures under load. The magnitude difference is explained by fault profile differences (uncontrolled retries vs. no retries as baselines) and scale effects at the concurrency level.</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17. Contributions</a:t>
            </a:r>
          </a:p>
        </p:txBody>
      </p:sp>
      <p:sp>
        <p:nvSpPr>
          <p:cNvPr id="5" name="TextBox 4"/>
          <p:cNvSpPr txBox="1"/>
          <p:nvPr/>
        </p:nvSpPr>
        <p:spPr>
          <a:xfrm>
            <a:off x="731520" y="1280160"/>
            <a:ext cx="10698480" cy="1143000"/>
          </a:xfrm>
          <a:prstGeom prst="rect">
            <a:avLst/>
          </a:prstGeom>
          <a:noFill/>
        </p:spPr>
        <p:txBody>
          <a:bodyPr wrap="square">
            <a:spAutoFit/>
          </a:bodyPr>
          <a:lstStyle/>
          <a:p>
            <a:pPr>
              <a:spcAft>
                <a:spcPts val="600"/>
              </a:spcAft>
            </a:pPr>
            <a:r>
              <a:rPr sz="1700">
                <a:solidFill>
                  <a:srgbClr val="94A3B8"/>
                </a:solidFill>
              </a:rPr>
              <a:t>This project delivers distinct contributions beyond existing literature:</a:t>
            </a:r>
          </a:p>
          <a:p>
            <a:pPr>
              <a:spcAft>
                <a:spcPts val="600"/>
              </a:spcAft>
            </a:pPr>
            <a:r>
              <a:rPr sz="1700">
                <a:solidFill>
                  <a:srgbClr val="94A3B8"/>
                </a:solidFill>
              </a:rPr>
              <a:t/>
            </a:r>
            <a:r>
              <a:rPr sz="1700" b="1">
                <a:solidFill>
                  <a:srgbClr val="B8CEF5"/>
                </a:solidFill>
              </a:rPr>
              <a:t>Contribution 1: First open-source runnable benchmark comparing retry strategies under burst-correlated faults.</a:t>
            </a:r>
            <a:r>
              <a:rPr sz="1700">
                <a:solidFill>
                  <a:srgbClr val="94A3B8"/>
                </a:solidFill>
              </a:rPr>
              <a:t> Mohammad (2025) reported results without source code, detailed setup, or raw data. Giri &amp; Patel (2014) catalogued failure modes without measuring pattern effectiveness. We provide an end-to-end experiment (~750 lines, pure Python) with documented parameters, raw per-request JSON outputs, and aggregate metrics. Anyone can clone, modify one parameter, and measure the effect.</a:t>
            </a:r>
          </a:p>
          <a:p>
            <a:pPr>
              <a:spcAft>
                <a:spcPts val="600"/>
              </a:spcAft>
            </a:pPr>
            <a:r>
              <a:rPr sz="1700">
                <a:solidFill>
                  <a:srgbClr val="94A3B8"/>
                </a:solidFill>
              </a:rPr>
              <a:t/>
            </a:r>
            <a:r>
              <a:rPr sz="1700" b="1">
                <a:solidFill>
                  <a:srgbClr val="B8CEF5"/>
                </a:solidFill>
              </a:rPr>
              <a:t>Contribution 2: Discovery that naive fixed-delay retry outperforms jitter and circuit breaker under burst-correlated faults.</a:t>
            </a:r>
            <a:r>
              <a:rPr sz="1700">
                <a:solidFill>
                  <a:srgbClr val="94A3B8"/>
                </a:solidFill>
              </a:rPr>
              <a:t> Neither Mohammad nor existing literature predicted this result. Industry convention recommends jitter above naive retry, yet our experiments show it performs worse (13.5–14.0% vs. 10.8% error rate). This contradicts common engineering intuition and was only discoverable through empirical measurement, not theoretical reasoning alone.</a:t>
            </a:r>
          </a:p>
          <a:p>
            <a:pPr>
              <a:spcAft>
                <a:spcPts val="600"/>
              </a:spcAft>
            </a:pPr>
            <a:r>
              <a:rPr sz="1700">
                <a:solidFill>
                  <a:srgbClr val="94A3B8"/>
                </a:solidFill>
              </a:rPr>
              <a:t/>
            </a:r>
            <a:r>
              <a:rPr sz="1700" b="1">
                <a:solidFill>
                  <a:srgbClr val="B8CEF5"/>
                </a:solidFill>
              </a:rPr>
              <a:t>Contribution 3: Proof that error correlation is a prerequisite for retry effectiveness.</a:t>
            </a:r>
            <a:r>
              <a:rPr sz="1700">
                <a:solidFill>
                  <a:srgbClr val="94A3B8"/>
                </a:solidFill>
              </a:rPr>
              <a:t> Experiment 2 demonstrated zero retry benefit under independent errors. This fundamental insight — that retry strategies only work when failures cluster in recoverable windows — was not addressed in any prior publication. It explains why retry patterns are invisible in low-concurrency environments with independent errors, but critical in real-world burst scenarios.</a:t>
            </a:r>
          </a:p>
          <a:p>
            <a:pPr>
              <a:spcAft>
                <a:spcPts val="600"/>
              </a:spcAft>
            </a:pPr>
            <a:r>
              <a:rPr sz="1700">
                <a:solidFill>
                  <a:srgbClr val="94A3B8"/>
                </a:solidFill>
              </a:rPr>
              <a:t/>
            </a:r>
            <a:r>
              <a:rPr sz="1700" b="1">
                <a:solidFill>
                  <a:srgbClr val="B8CEF5"/>
                </a:solidFill>
              </a:rPr>
              <a:t>Contribution 4: Quantitative scaling law for retry effectiveness.</a:t>
            </a:r>
            <a:r>
              <a:rPr sz="1700">
                <a:solidFill>
                  <a:srgbClr val="94A3B8"/>
                </a:solidFill>
              </a:rPr>
              <a:t> Across Runs 1 and 3, naive retry improvement grew from -25% to -33% as burst error severity doubled. This suggests a roughly linear relationship between burst error intensity and naive retry benefit at constant concurrency — a finding that could inform future experiment design and fault tolerance architecture selection.</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18. Limitations &amp; Lessons Learned</a:t>
            </a:r>
          </a:p>
        </p:txBody>
      </p:sp>
      <p:sp>
        <p:nvSpPr>
          <p:cNvPr id="5" name="TextBox 4"/>
          <p:cNvSpPr txBox="1"/>
          <p:nvPr/>
        </p:nvSpPr>
        <p:spPr>
          <a:xfrm>
            <a:off x="731520" y="1280160"/>
            <a:ext cx="10698480" cy="5029200"/>
          </a:xfrm>
          <a:prstGeom prst="rect">
            <a:avLst/>
          </a:prstGeom>
          <a:noFill/>
        </p:spPr>
        <p:txBody>
          <a:bodyPr wrap="square">
            <a:spAutoFit/>
          </a:bodyPr>
          <a:lstStyle/>
          <a:p>
            <a:pPr>
              <a:spcAft>
                <a:spcPts val="800"/>
              </a:spcAft>
            </a:pPr>
            <a:r>
              <a:rPr sz="1800">
                <a:solidFill>
                  <a:srgbClr val="94A3B8"/>
                </a:solidFill>
              </a:rPr>
              <a:t>Technical limitations identified:</a:t>
            </a:r>
          </a:p>
        </p:txBody>
      </p:sp>
      <p:graphicFrame>
        <p:nvGraphicFramePr>
          <p:cNvPr id="6" name="Table 5"/>
          <p:cNvGraphicFramePr>
            <a:graphicFrameLocks noGrp="1"/>
          </p:cNvGraphicFramePr>
          <p:nvPr/>
        </p:nvGraphicFramePr>
        <p:xfrm>
          <a:off x="731520" y="1554480"/>
          <a:ext cx="10698480" cy="2057399"/>
        </p:xfrm>
        <a:graphic>
          <a:graphicData uri="http://schemas.openxmlformats.org/drawingml/2006/table">
            <a:tbl>
              <a:tblPr firstRow="1" bandRow="1">
                <a:tableStyleId>{5C22544A-7EE6-4342-B048-85BDC9FD1C3A}</a:tableStyleId>
              </a:tblPr>
              <a:tblGrid>
                <a:gridCol w="3566160"/>
                <a:gridCol w="3566160"/>
                <a:gridCol w="3566160"/>
              </a:tblGrid>
              <a:tr h="342899">
                <a:tc>
                  <a:txBody>
                    <a:bodyPr/>
                    <a:lstStyle/>
                    <a:p>
                      <a:pPr>
                        <a:defRPr sz="1300" b="1">
                          <a:solidFill>
                            <a:srgbClr val="F1F5F9"/>
                          </a:solidFill>
                        </a:defRPr>
                      </a:pPr>
                      <a:r>
                        <a:t>Limitation</a:t>
                      </a:r>
                    </a:p>
                  </a:txBody>
                  <a:tcPr>
                    <a:solidFill>
                      <a:srgbClr val="1E3A8A"/>
                    </a:solidFill>
                  </a:tcPr>
                </a:tc>
                <a:tc>
                  <a:txBody>
                    <a:bodyPr/>
                    <a:lstStyle/>
                    <a:p>
                      <a:pPr algn="ctr">
                        <a:defRPr sz="1300" b="1">
                          <a:solidFill>
                            <a:srgbClr val="F1F5F9"/>
                          </a:solidFill>
                        </a:defRPr>
                      </a:pPr>
                      <a:r>
                        <a:t>Impact</a:t>
                      </a:r>
                    </a:p>
                  </a:txBody>
                  <a:tcPr>
                    <a:solidFill>
                      <a:srgbClr val="1E3A8A"/>
                    </a:solidFill>
                  </a:tcPr>
                </a:tc>
                <a:tc>
                  <a:txBody>
                    <a:bodyPr/>
                    <a:lstStyle/>
                    <a:p>
                      <a:pPr algn="ctr">
                        <a:defRPr sz="1300" b="1">
                          <a:solidFill>
                            <a:srgbClr val="F1F5F9"/>
                          </a:solidFill>
                        </a:defRPr>
                      </a:pPr>
                      <a:r>
                        <a:t>Future Work</a:t>
                      </a:r>
                    </a:p>
                  </a:txBody>
                  <a:tcPr>
                    <a:solidFill>
                      <a:srgbClr val="1E3A8A"/>
                    </a:solidFill>
                  </a:tcPr>
                </a:tc>
              </a:tr>
              <a:tr h="342899">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42899">
                <a:tc>
                  <a:txBody>
                    <a:bodyPr/>
                    <a:lstStyle/>
                    <a:p>
                      <a:pPr>
                        <a:defRPr sz="1200" b="1">
                          <a:solidFill>
                            <a:srgbClr val="F1F5F9"/>
                          </a:solidFill>
                        </a:defRPr>
                      </a:pPr>
                      <a:r>
                        <a:t>Low concurrency (20 req/s vs. target 200 req/s)</a:t>
                      </a:r>
                    </a:p>
                  </a:txBody>
                  <a:tcPr>
                    <a:solidFill>
                      <a:srgbClr val="1E293B"/>
                    </a:solidFill>
                  </a:tcPr>
                </a:tc>
                <a:tc>
                  <a:txBody>
                    <a:bodyPr/>
                    <a:lstStyle/>
                    <a:p>
                      <a:pPr algn="ctr">
                        <a:defRPr sz="1200">
                          <a:solidFill>
                            <a:srgbClr val="F1F5F9"/>
                          </a:solidFill>
                        </a:defRPr>
                      </a:pPr>
                      <a:r>
                        <a:t>Latency ceiling masks retry-storm mitigation differences; limited statistical power for error rate comparison</a:t>
                      </a:r>
                    </a:p>
                  </a:txBody>
                  <a:tcPr>
                    <a:solidFill>
                      <a:srgbClr val="1E293B"/>
                    </a:solidFill>
                  </a:tcPr>
                </a:tc>
                <a:tc>
                  <a:txBody>
                    <a:bodyPr/>
                    <a:lstStyle/>
                    <a:p>
                      <a:pPr algn="ctr">
                        <a:defRPr sz="1200">
                          <a:solidFill>
                            <a:srgbClr val="F1F5F9"/>
                          </a:solidFill>
                        </a:defRPr>
                      </a:pPr>
                      <a:r>
                        <a:t>Scale to 200 req/s with Flask on a separate host</a:t>
                      </a:r>
                    </a:p>
                  </a:txBody>
                  <a:tcPr>
                    <a:solidFill>
                      <a:srgbClr val="1E293B"/>
                    </a:solidFill>
                  </a:tcPr>
                </a:tc>
              </a:tr>
              <a:tr h="342899">
                <a:tc>
                  <a:txBody>
                    <a:bodyPr/>
                    <a:lstStyle/>
                    <a:p>
                      <a:pPr>
                        <a:defRPr sz="1200" b="1">
                          <a:solidFill>
                            <a:srgbClr val="F1F5F9"/>
                          </a:solidFill>
                        </a:defRPr>
                      </a:pPr>
                      <a:r>
                        <a:t>Short runs (30 s)</a:t>
                      </a:r>
                    </a:p>
                  </a:txBody>
                  <a:tcPr/>
                </a:tc>
                <a:tc>
                  <a:txBody>
                    <a:bodyPr/>
                    <a:lstStyle/>
                    <a:p>
                      <a:pPr algn="ctr">
                        <a:defRPr sz="1200">
                          <a:solidFill>
                            <a:srgbClr val="F1F5F9"/>
                          </a:solidFill>
                        </a:defRPr>
                      </a:pPr>
                      <a:r>
                        <a:t>Burst windows (~8–12 s) overlap run boundaries; CB trips early and may not recover before the next burst</a:t>
                      </a:r>
                    </a:p>
                  </a:txBody>
                  <a:tcPr/>
                </a:tc>
                <a:tc>
                  <a:txBody>
                    <a:bodyPr/>
                    <a:lstStyle/>
                    <a:p>
                      <a:pPr algn="ctr">
                        <a:defRPr sz="1200">
                          <a:solidFill>
                            <a:srgbClr val="F1F5F9"/>
                          </a:solidFill>
                        </a:defRPr>
                      </a:pPr>
                      <a:r>
                        <a:t>Extend runs to 60+ s with longer gap-to-burst ratios</a:t>
                      </a:r>
                    </a:p>
                  </a:txBody>
                  <a:tcPr/>
                </a:tc>
              </a:tr>
              <a:tr h="342899">
                <a:tc>
                  <a:txBody>
                    <a:bodyPr/>
                    <a:lstStyle/>
                    <a:p>
                      <a:pPr>
                        <a:defRPr sz="1200" b="1">
                          <a:solidFill>
                            <a:srgbClr val="F1F5F9"/>
                          </a:solidFill>
                        </a:defRPr>
                      </a:pPr>
                      <a:r>
                        <a:t>Single-fault type (latency + burst errors)</a:t>
                      </a:r>
                    </a:p>
                  </a:txBody>
                  <a:tcPr>
                    <a:solidFill>
                      <a:srgbClr val="1E293B"/>
                    </a:solidFill>
                  </a:tcPr>
                </a:tc>
                <a:tc>
                  <a:txBody>
                    <a:bodyPr/>
                    <a:lstStyle/>
                    <a:p>
                      <a:pPr algn="ctr">
                        <a:defRPr sz="1200">
                          <a:solidFill>
                            <a:srgbClr val="F1F5F9"/>
                          </a:solidFill>
                        </a:defRPr>
                      </a:pPr>
                      <a:r>
                        <a:t>Does not model crash scenarios, high-error-rate spikes, or cascading downstream dependencies</a:t>
                      </a:r>
                    </a:p>
                  </a:txBody>
                  <a:tcPr>
                    <a:solidFill>
                      <a:srgbClr val="1E293B"/>
                    </a:solidFill>
                  </a:tcPr>
                </a:tc>
                <a:tc>
                  <a:txBody>
                    <a:bodyPr/>
                    <a:lstStyle/>
                    <a:p>
                      <a:pPr algn="ctr">
                        <a:defRPr sz="1200">
                          <a:solidFill>
                            <a:srgbClr val="F1F5F9"/>
                          </a:solidFill>
                        </a:defRPr>
                      </a:pPr>
                      <a:r>
                        <a:t>Add process-killing faults and configurable error-spike profiles</a:t>
                      </a:r>
                    </a:p>
                  </a:txBody>
                  <a:tcPr>
                    <a:solidFill>
                      <a:srgbClr val="1E293B"/>
                    </a:solidFill>
                  </a:tcPr>
                </a:tc>
              </a:tr>
              <a:tr h="342904">
                <a:tc>
                  <a:txBody>
                    <a:bodyPr/>
                    <a:lstStyle/>
                    <a:p>
                      <a:pPr>
                        <a:defRPr sz="1200" b="1">
                          <a:solidFill>
                            <a:srgbClr val="F1F5F9"/>
                          </a:solidFill>
                        </a:defRPr>
                      </a:pPr>
                      <a:r>
                        <a:t>No statistical testing</a:t>
                      </a:r>
                    </a:p>
                  </a:txBody>
                  <a:tcPr/>
                </a:tc>
                <a:tc>
                  <a:txBody>
                    <a:bodyPr/>
                    <a:lstStyle/>
                    <a:p>
                      <a:pPr algn="ctr">
                        <a:defRPr sz="1200">
                          <a:solidFill>
                            <a:srgbClr val="F1F5F9"/>
                          </a:solidFill>
                        </a:defRPr>
                      </a:pPr>
                      <a:r>
                        <a:t>Raw percentages reported without confidence intervals or p-values</a:t>
                      </a:r>
                    </a:p>
                  </a:txBody>
                  <a:tcPr/>
                </a:tc>
                <a:tc>
                  <a:txBody>
                    <a:bodyPr/>
                    <a:lstStyle/>
                    <a:p>
                      <a:pPr algn="ctr">
                        <a:defRPr sz="1200">
                          <a:solidFill>
                            <a:srgbClr val="F1F5F9"/>
                          </a:solidFill>
                        </a:defRPr>
                      </a:pPr>
                      <a:r>
                        <a:t>Apply bootstrapping for percentile CIs; Mann-Whitney U test for error rate comparison</a:t>
                      </a:r>
                    </a:p>
                  </a:txBody>
                  <a:tcPr/>
                </a:tc>
              </a:tr>
            </a:tbl>
          </a:graphicData>
        </a:graphic>
      </p:graphicFrame>
      <p:sp>
        <p:nvSpPr>
          <p:cNvPr id="7" name="TextBox 6"/>
          <p:cNvSpPr txBox="1"/>
          <p:nvPr/>
        </p:nvSpPr>
        <p:spPr>
          <a:xfrm>
            <a:off x="731520" y="3749039"/>
            <a:ext cx="10698480" cy="5029200"/>
          </a:xfrm>
          <a:prstGeom prst="rect">
            <a:avLst/>
          </a:prstGeom>
          <a:noFill/>
        </p:spPr>
        <p:txBody>
          <a:bodyPr wrap="square">
            <a:spAutoFit/>
          </a:bodyPr>
          <a:lstStyle/>
          <a:p>
            <a:pPr>
              <a:spcAft>
                <a:spcPts val="800"/>
              </a:spcAft>
            </a:pPr>
            <a:r>
              <a:rPr sz="1800">
                <a:solidFill>
                  <a:srgbClr val="94A3B8"/>
                </a:solidFill>
              </a:rPr>
              <a:t/>
            </a:r>
            <a:r>
              <a:rPr sz="1800" b="1">
                <a:solidFill>
                  <a:srgbClr val="B8CEF5"/>
                </a:solidFill>
              </a:rPr>
              <a:t>Lesson learned:</a:t>
            </a:r>
            <a:r>
              <a:rPr sz="1800">
                <a:solidFill>
                  <a:srgbClr val="94A3B8"/>
                </a:solidFill>
              </a:rPr>
              <a:t> Resilience patterns are most valuable under high concurrency — precisely the conditions hardest to simulate locally. Basic retry logic improves outcomes even at reduced scale, but full circuit-breaker benefits require higher thread counts to expose queuing dynamics where fast-fail semantics save significant latency.</a:t>
            </a:r>
          </a:p>
        </p:txBody>
      </p:sp>
      <p:sp>
        <p:nvSpPr>
          <p:cNvPr id="8" name="TextBox 7"/>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19. Project Timeline</a:t>
            </a:r>
          </a:p>
        </p:txBody>
      </p:sp>
      <p:graphicFrame>
        <p:nvGraphicFramePr>
          <p:cNvPr id="5" name="Table 4"/>
          <p:cNvGraphicFramePr>
            <a:graphicFrameLocks noGrp="1"/>
          </p:cNvGraphicFramePr>
          <p:nvPr/>
        </p:nvGraphicFramePr>
        <p:xfrm>
          <a:off x="731520" y="1280160"/>
          <a:ext cx="10698480" cy="2697479"/>
        </p:xfrm>
        <a:graphic>
          <a:graphicData uri="http://schemas.openxmlformats.org/drawingml/2006/table">
            <a:tbl>
              <a:tblPr firstRow="1" bandRow="1">
                <a:tableStyleId>{5C22544A-7EE6-4342-B048-85BDC9FD1C3A}</a:tableStyleId>
              </a:tblPr>
              <a:tblGrid>
                <a:gridCol w="2674620"/>
                <a:gridCol w="2674620"/>
                <a:gridCol w="2674620"/>
                <a:gridCol w="2674620"/>
              </a:tblGrid>
              <a:tr h="337184">
                <a:tc>
                  <a:txBody>
                    <a:bodyPr/>
                    <a:lstStyle/>
                    <a:p>
                      <a:pPr>
                        <a:defRPr sz="1300" b="1">
                          <a:solidFill>
                            <a:srgbClr val="F1F5F9"/>
                          </a:solidFill>
                        </a:defRPr>
                      </a:pPr>
                      <a:r>
                        <a:t>Phase</a:t>
                      </a:r>
                    </a:p>
                  </a:txBody>
                  <a:tcPr>
                    <a:solidFill>
                      <a:srgbClr val="1E3A8A"/>
                    </a:solidFill>
                  </a:tcPr>
                </a:tc>
                <a:tc>
                  <a:txBody>
                    <a:bodyPr/>
                    <a:lstStyle/>
                    <a:p>
                      <a:pPr algn="ctr">
                        <a:defRPr sz="1300" b="1">
                          <a:solidFill>
                            <a:srgbClr val="F1F5F9"/>
                          </a:solidFill>
                        </a:defRPr>
                      </a:pPr>
                      <a:r>
                        <a:t>Period</a:t>
                      </a:r>
                    </a:p>
                  </a:txBody>
                  <a:tcPr>
                    <a:solidFill>
                      <a:srgbClr val="1E3A8A"/>
                    </a:solidFill>
                  </a:tcPr>
                </a:tc>
                <a:tc>
                  <a:txBody>
                    <a:bodyPr/>
                    <a:lstStyle/>
                    <a:p>
                      <a:pPr algn="ctr">
                        <a:defRPr sz="1300" b="1">
                          <a:solidFill>
                            <a:srgbClr val="F1F5F9"/>
                          </a:solidFill>
                        </a:defRPr>
                      </a:pPr>
                      <a:r>
                        <a:t>Milestone</a:t>
                      </a:r>
                    </a:p>
                  </a:txBody>
                  <a:tcPr>
                    <a:solidFill>
                      <a:srgbClr val="1E3A8A"/>
                    </a:solidFill>
                  </a:tcPr>
                </a:tc>
                <a:tc>
                  <a:txBody>
                    <a:bodyPr/>
                    <a:lstStyle/>
                    <a:p>
                      <a:pPr algn="ctr">
                        <a:defRPr sz="1300" b="1">
                          <a:solidFill>
                            <a:srgbClr val="F1F5F9"/>
                          </a:solidFill>
                        </a:defRPr>
                      </a:pPr>
                      <a:r>
                        <a:t>Status</a:t>
                      </a:r>
                    </a:p>
                  </a:txBody>
                  <a:tcPr>
                    <a:solidFill>
                      <a:srgbClr val="1E3A8A"/>
                    </a:solidFill>
                  </a:tcPr>
                </a:tc>
              </a:tr>
              <a:tr h="337184">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37184">
                <a:tc>
                  <a:txBody>
                    <a:bodyPr/>
                    <a:lstStyle/>
                    <a:p>
                      <a:pPr>
                        <a:defRPr sz="1200" b="1">
                          <a:solidFill>
                            <a:srgbClr val="F1F5F9"/>
                          </a:solidFill>
                        </a:defRPr>
                      </a:pPr>
                      <a:r>
                        <a:t>Design &amp; literature review</a:t>
                      </a:r>
                    </a:p>
                  </a:txBody>
                  <a:tcPr>
                    <a:solidFill>
                      <a:srgbClr val="1E293B"/>
                    </a:solidFill>
                  </a:tcPr>
                </a:tc>
                <a:tc>
                  <a:txBody>
                    <a:bodyPr/>
                    <a:lstStyle/>
                    <a:p>
                      <a:pPr algn="ctr">
                        <a:defRPr sz="1200">
                          <a:solidFill>
                            <a:srgbClr val="F1F5F9"/>
                          </a:solidFill>
                        </a:defRPr>
                      </a:pPr>
                      <a:r>
                        <a:t>May – Jun 2025</a:t>
                      </a:r>
                    </a:p>
                  </a:txBody>
                  <a:tcPr>
                    <a:solidFill>
                      <a:srgbClr val="1E293B"/>
                    </a:solidFill>
                  </a:tcPr>
                </a:tc>
                <a:tc>
                  <a:txBody>
                    <a:bodyPr/>
                    <a:lstStyle/>
                    <a:p>
                      <a:pPr algn="ctr">
                        <a:defRPr sz="1200">
                          <a:solidFill>
                            <a:srgbClr val="F1F5F9"/>
                          </a:solidFill>
                        </a:defRPr>
                      </a:pPr>
                      <a:r>
                        <a:t>Literature survey, system design doc</a:t>
                      </a:r>
                    </a:p>
                  </a:txBody>
                  <a:tcPr>
                    <a:solidFill>
                      <a:srgbClr val="1E293B"/>
                    </a:solidFill>
                  </a:tcPr>
                </a:tc>
                <a:tc>
                  <a:txBody>
                    <a:bodyPr/>
                    <a:lstStyle/>
                    <a:p>
                      <a:pPr algn="ctr">
                        <a:defRPr sz="1200">
                          <a:solidFill>
                            <a:srgbClr val="F1F5F9"/>
                          </a:solidFill>
                        </a:defRPr>
                      </a:pPr>
                      <a:r>
                        <a:t>Complete</a:t>
                      </a:r>
                    </a:p>
                  </a:txBody>
                  <a:tcPr>
                    <a:solidFill>
                      <a:srgbClr val="1E293B"/>
                    </a:solidFill>
                  </a:tcPr>
                </a:tc>
              </a:tr>
              <a:tr h="337184">
                <a:tc>
                  <a:txBody>
                    <a:bodyPr/>
                    <a:lstStyle/>
                    <a:p>
                      <a:pPr>
                        <a:defRPr sz="1200" b="1">
                          <a:solidFill>
                            <a:srgbClr val="F1F5F9"/>
                          </a:solidFill>
                        </a:defRPr>
                      </a:pPr>
                      <a:r>
                        <a:t>Core implementation</a:t>
                      </a:r>
                    </a:p>
                  </a:txBody>
                  <a:tcPr/>
                </a:tc>
                <a:tc>
                  <a:txBody>
                    <a:bodyPr/>
                    <a:lstStyle/>
                    <a:p>
                      <a:pPr algn="ctr">
                        <a:defRPr sz="1200">
                          <a:solidFill>
                            <a:srgbClr val="F1F5F9"/>
                          </a:solidFill>
                        </a:defRPr>
                      </a:pPr>
                      <a:r>
                        <a:t>Jun – Aug 2025</a:t>
                      </a:r>
                    </a:p>
                  </a:txBody>
                  <a:tcPr/>
                </a:tc>
                <a:tc>
                  <a:txBody>
                    <a:bodyPr/>
                    <a:lstStyle/>
                    <a:p>
                      <a:pPr algn="ctr">
                        <a:defRPr sz="1200">
                          <a:solidFill>
                            <a:srgbClr val="F1F5F9"/>
                          </a:solidFill>
                        </a:defRPr>
                      </a:pPr>
                      <a:r>
                        <a:t>Downstream service, fault injector, load runner, 4 patterns, metrics, report</a:t>
                      </a:r>
                    </a:p>
                  </a:txBody>
                  <a:tcPr/>
                </a:tc>
                <a:tc>
                  <a:txBody>
                    <a:bodyPr/>
                    <a:lstStyle/>
                    <a:p>
                      <a:pPr algn="ctr">
                        <a:defRPr sz="1200">
                          <a:solidFill>
                            <a:srgbClr val="F1F5F9"/>
                          </a:solidFill>
                        </a:defRPr>
                      </a:pPr>
                      <a:r>
                        <a:t>Complete</a:t>
                      </a:r>
                    </a:p>
                  </a:txBody>
                  <a:tcPr/>
                </a:tc>
              </a:tr>
              <a:tr h="337184">
                <a:tc>
                  <a:txBody>
                    <a:bodyPr/>
                    <a:lstStyle/>
                    <a:p>
                      <a:pPr>
                        <a:defRPr sz="1200" b="1">
                          <a:solidFill>
                            <a:srgbClr val="F1F5F9"/>
                          </a:solidFill>
                        </a:defRPr>
                      </a:pPr>
                      <a:r>
                        <a:t>In-process validation</a:t>
                      </a:r>
                    </a:p>
                  </a:txBody>
                  <a:tcPr>
                    <a:solidFill>
                      <a:srgbClr val="1E293B"/>
                    </a:solidFill>
                  </a:tcPr>
                </a:tc>
                <a:tc>
                  <a:txBody>
                    <a:bodyPr/>
                    <a:lstStyle/>
                    <a:p>
                      <a:pPr algn="ctr">
                        <a:defRPr sz="1200">
                          <a:solidFill>
                            <a:srgbClr val="F1F5F9"/>
                          </a:solidFill>
                        </a:defRPr>
                      </a:pPr>
                      <a:r>
                        <a:t>Aug – Oct 2025</a:t>
                      </a:r>
                    </a:p>
                  </a:txBody>
                  <a:tcPr>
                    <a:solidFill>
                      <a:srgbClr val="1E293B"/>
                    </a:solidFill>
                  </a:tcPr>
                </a:tc>
                <a:tc>
                  <a:txBody>
                    <a:bodyPr/>
                    <a:lstStyle/>
                    <a:p>
                      <a:pPr algn="ctr">
                        <a:defRPr sz="1200">
                          <a:solidFill>
                            <a:srgbClr val="F1F5F9"/>
                          </a:solidFill>
                        </a:defRPr>
                      </a:pPr>
                      <a:r>
                        <a:t>Reproduce Mohammad (2025) methodology at reduced scale</a:t>
                      </a:r>
                    </a:p>
                  </a:txBody>
                  <a:tcPr>
                    <a:solidFill>
                      <a:srgbClr val="1E293B"/>
                    </a:solidFill>
                  </a:tcPr>
                </a:tc>
                <a:tc>
                  <a:txBody>
                    <a:bodyPr/>
                    <a:lstStyle/>
                    <a:p>
                      <a:pPr algn="ctr">
                        <a:defRPr sz="1200">
                          <a:solidFill>
                            <a:srgbClr val="F1F5F9"/>
                          </a:solidFill>
                        </a:defRPr>
                      </a:pPr>
                      <a:r>
                        <a:t>Complete</a:t>
                      </a:r>
                    </a:p>
                  </a:txBody>
                  <a:tcPr>
                    <a:solidFill>
                      <a:srgbClr val="1E293B"/>
                    </a:solidFill>
                  </a:tcPr>
                </a:tc>
              </a:tr>
              <a:tr h="337184">
                <a:tc>
                  <a:txBody>
                    <a:bodyPr/>
                    <a:lstStyle/>
                    <a:p>
                      <a:pPr>
                        <a:defRPr sz="1200" b="1">
                          <a:solidFill>
                            <a:srgbClr val="F1F5F9"/>
                          </a:solidFill>
                        </a:defRPr>
                      </a:pPr>
                      <a:r>
                        <a:t>High-scale testing</a:t>
                      </a:r>
                    </a:p>
                  </a:txBody>
                  <a:tcPr/>
                </a:tc>
                <a:tc>
                  <a:txBody>
                    <a:bodyPr/>
                    <a:lstStyle/>
                    <a:p>
                      <a:pPr algn="ctr">
                        <a:defRPr sz="1200">
                          <a:solidFill>
                            <a:srgbClr val="F1F5F9"/>
                          </a:solidFill>
                        </a:defRPr>
                      </a:pPr>
                      <a:r>
                        <a:t>Oct – Dec 2025</a:t>
                      </a:r>
                    </a:p>
                  </a:txBody>
                  <a:tcPr/>
                </a:tc>
                <a:tc>
                  <a:txBody>
                    <a:bodyPr/>
                    <a:lstStyle/>
                    <a:p>
                      <a:pPr algn="ctr">
                        <a:defRPr sz="1200">
                          <a:solidFill>
                            <a:srgbClr val="F1F5F9"/>
                          </a:solidFill>
                        </a:defRPr>
                      </a:pPr>
                      <a:r>
                        <a:t>Docker/K8s deployment, 200 req/s, expanded fault types</a:t>
                      </a:r>
                    </a:p>
                  </a:txBody>
                  <a:tcPr/>
                </a:tc>
                <a:tc>
                  <a:txBody>
                    <a:bodyPr/>
                    <a:lstStyle/>
                    <a:p>
                      <a:pPr algn="ctr">
                        <a:defRPr sz="1200">
                          <a:solidFill>
                            <a:srgbClr val="F1F5F9"/>
                          </a:solidFill>
                        </a:defRPr>
                      </a:pPr>
                      <a:r>
                        <a:t>Planned</a:t>
                      </a:r>
                    </a:p>
                  </a:txBody>
                  <a:tcPr/>
                </a:tc>
              </a:tr>
              <a:tr h="337184">
                <a:tc>
                  <a:txBody>
                    <a:bodyPr/>
                    <a:lstStyle/>
                    <a:p>
                      <a:pPr>
                        <a:defRPr sz="1200" b="1">
                          <a:solidFill>
                            <a:srgbClr val="F1F5F9"/>
                          </a:solidFill>
                        </a:defRPr>
                      </a:pPr>
                      <a:r>
                        <a:t>Statistical analysis</a:t>
                      </a:r>
                    </a:p>
                  </a:txBody>
                  <a:tcPr>
                    <a:solidFill>
                      <a:srgbClr val="1E293B"/>
                    </a:solidFill>
                  </a:tcPr>
                </a:tc>
                <a:tc>
                  <a:txBody>
                    <a:bodyPr/>
                    <a:lstStyle/>
                    <a:p>
                      <a:pPr algn="ctr">
                        <a:defRPr sz="1200">
                          <a:solidFill>
                            <a:srgbClr val="F1F5F9"/>
                          </a:solidFill>
                        </a:defRPr>
                      </a:pPr>
                      <a:r>
                        <a:t>Nov – Jan 2026</a:t>
                      </a:r>
                    </a:p>
                  </a:txBody>
                  <a:tcPr>
                    <a:solidFill>
                      <a:srgbClr val="1E293B"/>
                    </a:solidFill>
                  </a:tcPr>
                </a:tc>
                <a:tc>
                  <a:txBody>
                    <a:bodyPr/>
                    <a:lstStyle/>
                    <a:p>
                      <a:pPr algn="ctr">
                        <a:defRPr sz="1200">
                          <a:solidFill>
                            <a:srgbClr val="F1F5F9"/>
                          </a:solidFill>
                        </a:defRPr>
                      </a:pPr>
                      <a:r>
                        <a:t>Confidence intervals, hypothesis testing, effect sizes</a:t>
                      </a:r>
                    </a:p>
                  </a:txBody>
                  <a:tcPr>
                    <a:solidFill>
                      <a:srgbClr val="1E293B"/>
                    </a:solidFill>
                  </a:tcPr>
                </a:tc>
                <a:tc>
                  <a:txBody>
                    <a:bodyPr/>
                    <a:lstStyle/>
                    <a:p>
                      <a:pPr algn="ctr">
                        <a:defRPr sz="1200">
                          <a:solidFill>
                            <a:srgbClr val="F1F5F9"/>
                          </a:solidFill>
                        </a:defRPr>
                      </a:pPr>
                      <a:r>
                        <a:t>Planned</a:t>
                      </a:r>
                    </a:p>
                  </a:txBody>
                  <a:tcPr>
                    <a:solidFill>
                      <a:srgbClr val="1E293B"/>
                    </a:solidFill>
                  </a:tcPr>
                </a:tc>
              </a:tr>
              <a:tr h="337191">
                <a:tc>
                  <a:txBody>
                    <a:bodyPr/>
                    <a:lstStyle/>
                    <a:p>
                      <a:pPr>
                        <a:defRPr sz="1200" b="1">
                          <a:solidFill>
                            <a:srgbClr val="F1F5F9"/>
                          </a:solidFill>
                        </a:defRPr>
                      </a:pPr>
                      <a:r>
                        <a:t>Paper submission</a:t>
                      </a:r>
                    </a:p>
                  </a:txBody>
                  <a:tcPr/>
                </a:tc>
                <a:tc>
                  <a:txBody>
                    <a:bodyPr/>
                    <a:lstStyle/>
                    <a:p>
                      <a:pPr algn="ctr">
                        <a:defRPr sz="1200">
                          <a:solidFill>
                            <a:srgbClr val="F1F5F9"/>
                          </a:solidFill>
                        </a:defRPr>
                      </a:pPr>
                      <a:r>
                        <a:t>Jan – Feb 2026</a:t>
                      </a:r>
                    </a:p>
                  </a:txBody>
                  <a:tcPr/>
                </a:tc>
                <a:tc>
                  <a:txBody>
                    <a:bodyPr/>
                    <a:lstStyle/>
                    <a:p>
                      <a:pPr algn="ctr">
                        <a:defRPr sz="1200">
                          <a:solidFill>
                            <a:srgbClr val="F1F5F9"/>
                          </a:solidFill>
                        </a:defRPr>
                      </a:pPr>
                      <a:r>
                        <a:t>Full writeup with methodology, results, limitations</a:t>
                      </a:r>
                    </a:p>
                  </a:txBody>
                  <a:tcPr/>
                </a:tc>
                <a:tc>
                  <a:txBody>
                    <a:bodyPr/>
                    <a:lstStyle/>
                    <a:p>
                      <a:pPr algn="ctr">
                        <a:defRPr sz="1200">
                          <a:solidFill>
                            <a:srgbClr val="F1F5F9"/>
                          </a:solidFill>
                        </a:defRPr>
                      </a:pPr>
                      <a:r>
                        <a:t>Planned</a:t>
                      </a:r>
                    </a:p>
                  </a:txBody>
                  <a:tcPr/>
                </a:tc>
              </a:tr>
            </a:tbl>
          </a:graphicData>
        </a:graphic>
      </p:graphicFrame>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20. Conclusion</a:t>
            </a:r>
          </a:p>
        </p:txBody>
      </p:sp>
      <p:sp>
        <p:nvSpPr>
          <p:cNvPr id="5" name="TextBox 4"/>
          <p:cNvSpPr txBox="1"/>
          <p:nvPr/>
        </p:nvSpPr>
        <p:spPr>
          <a:xfrm>
            <a:off x="731520" y="1280160"/>
            <a:ext cx="10698480" cy="1371600"/>
          </a:xfrm>
          <a:prstGeom prst="rect">
            <a:avLst/>
          </a:prstGeom>
          <a:noFill/>
        </p:spPr>
        <p:txBody>
          <a:bodyPr wrap="square">
            <a:spAutoFit/>
          </a:bodyPr>
          <a:lstStyle/>
          <a:p>
            <a:pPr>
              <a:spcAft>
                <a:spcPts val="600"/>
              </a:spcAft>
            </a:pPr>
            <a:r>
              <a:rPr sz="1700">
                <a:solidFill>
                  <a:srgbClr val="94A3B8"/>
                </a:solidFill>
              </a:rPr>
              <a:t>This project delivers a complete end-to-end empirical study pipeline for evaluating microservices resilience patterns:</a:t>
            </a:r>
          </a:p>
          <a:p>
            <a:pPr>
              <a:spcAft>
                <a:spcPts val="600"/>
              </a:spcAft>
            </a:pPr>
            <a:r>
              <a:rPr sz="1700">
                <a:solidFill>
                  <a:srgbClr val="94A3B8"/>
                </a:solidFill>
              </a:rPr>
              <a:t/>
            </a:r>
            <a:r>
              <a:rPr sz="1700" b="1">
                <a:solidFill>
                  <a:srgbClr val="B8CEF5"/>
                </a:solidFill>
              </a:rPr>
              <a:t>Problem is real.</a:t>
            </a:r>
            <a:r>
              <a:rPr sz="1700">
                <a:solidFill>
                  <a:srgbClr val="94A3B8"/>
                </a:solidFill>
              </a:rPr>
              <a:t> Cascading failures from uncontrolled retries cost enterprises $100K–$1M/hr. Mitigation patterns exist but require measured evidence for selection.</a:t>
            </a:r>
          </a:p>
          <a:p>
            <a:pPr>
              <a:spcAft>
                <a:spcPts val="600"/>
              </a:spcAft>
            </a:pPr>
            <a:r>
              <a:rPr sz="1700">
                <a:solidFill>
                  <a:srgbClr val="94A3B8"/>
                </a:solidFill>
              </a:rPr>
              <a:t/>
            </a:r>
            <a:r>
              <a:rPr sz="1700" b="1">
                <a:solidFill>
                  <a:srgbClr val="B8CEF5"/>
                </a:solidFill>
              </a:rPr>
              <a:t>Gap was clear.</a:t>
            </a:r>
            <a:r>
              <a:rPr sz="1700">
                <a:solidFill>
                  <a:srgbClr val="94A3B8"/>
                </a:solidFill>
              </a:rPr>
              <a:t> No open, reproducible, side-by-side benchmark existed. SOTA libraries provide tools but not comparative evidence. Mohammad (2025) established directional findings at scale but did not publish detailed experimental setup, source code, or raw data.</a:t>
            </a:r>
          </a:p>
          <a:p>
            <a:pPr>
              <a:spcAft>
                <a:spcPts val="600"/>
              </a:spcAft>
            </a:pPr>
            <a:r>
              <a:rPr sz="1700">
                <a:solidFill>
                  <a:srgbClr val="94A3B8"/>
                </a:solidFill>
              </a:rPr>
              <a:t/>
            </a:r>
            <a:r>
              <a:rPr sz="1700" b="1">
                <a:solidFill>
                  <a:srgbClr val="B8CEF5"/>
                </a:solidFill>
              </a:rPr>
              <a:t>Solution is practical.</a:t>
            </a:r>
            <a:r>
              <a:rPr sz="1700">
                <a:solidFill>
                  <a:srgbClr val="94A3B8"/>
                </a:solidFill>
              </a:rPr>
              <a:t> A runnable Python framework implements retry, jitter, and circuit breaker from first principles, runs in minutes, produces measured output. Where Mohammad establishes conclusions, we provide transparent verification paths.</a:t>
            </a:r>
          </a:p>
          <a:p>
            <a:pPr>
              <a:spcAft>
                <a:spcPts val="600"/>
              </a:spcAft>
            </a:pPr>
            <a:r>
              <a:rPr sz="1700">
                <a:solidFill>
                  <a:srgbClr val="94A3B8"/>
                </a:solidFill>
              </a:rPr>
              <a:t/>
            </a:r>
            <a:r>
              <a:rPr sz="1700" b="1">
                <a:solidFill>
                  <a:srgbClr val="B8CEF5"/>
                </a:solidFill>
              </a:rPr>
              <a:t>Results validated theory and challenged assumptions.</a:t>
            </a:r>
            <a:r>
              <a:rPr sz="1700">
                <a:solidFill>
                  <a:srgbClr val="94A3B8"/>
                </a:solidFill>
              </a:rPr>
              <a:t> Three independent experiment runs confirmed that (a) basic retry logic reduces errors (14.5% → 10.8%, -25%) under correlated faults but has zero effect under independent faults, and (b) naive retry outperforms jitter + CB — a finding contradicting conventional engineering recommendations.</a:t>
            </a:r>
          </a:p>
          <a:p>
            <a:pPr>
              <a:spcAft>
                <a:spcPts val="600"/>
              </a:spcAft>
            </a:pPr>
            <a:r>
              <a:rPr sz="1700">
                <a:solidFill>
                  <a:srgbClr val="94A3B8"/>
                </a:solidFill>
              </a:rPr>
              <a:t/>
            </a:r>
            <a:r>
              <a:rPr sz="1700" b="1">
                <a:solidFill>
                  <a:srgbClr val="B8CEF5"/>
                </a:solidFill>
              </a:rPr>
              <a:t>Next steps:</a:t>
            </a:r>
            <a:r>
              <a:rPr sz="1700">
                <a:solidFill>
                  <a:srgbClr val="94A3B8"/>
                </a:solidFill>
              </a:rPr>
              <a:t> Docker/Kubernetes deployment with isolated service hosts, increased load to 200+ req/s, expanded fault types, formal statistical testing (confidence intervals, p-values, effect sizes), bulkhead isolation integration.</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21. Q&amp;A</a:t>
            </a:r>
          </a:p>
        </p:txBody>
      </p:sp>
      <p:sp>
        <p:nvSpPr>
          <p:cNvPr id="5" name="TextBox 4"/>
          <p:cNvSpPr txBox="1"/>
          <p:nvPr/>
        </p:nvSpPr>
        <p:spPr>
          <a:xfrm>
            <a:off x="731520" y="1280160"/>
            <a:ext cx="10698480" cy="228600"/>
          </a:xfrm>
          <a:prstGeom prst="rect">
            <a:avLst/>
          </a:prstGeom>
          <a:noFill/>
        </p:spPr>
        <p:txBody>
          <a:bodyPr wrap="square">
            <a:spAutoFit/>
          </a:bodyPr>
          <a:lstStyle/>
          <a:p>
            <a:pPr>
              <a:spcAft>
                <a:spcPts val="600"/>
              </a:spcAft>
            </a:pPr>
            <a:r>
              <a:rPr sz="1700">
                <a:solidFill>
                  <a:srgbClr val="94A3B8"/>
                </a:solidFill>
              </a:rPr>
              <a:t>Thank you. Questions welcome.</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Appendix. A — Mapping to Evaluation Rubric</a:t>
            </a:r>
          </a:p>
        </p:txBody>
      </p:sp>
      <p:graphicFrame>
        <p:nvGraphicFramePr>
          <p:cNvPr id="5" name="Table 4"/>
          <p:cNvGraphicFramePr>
            <a:graphicFrameLocks noGrp="1"/>
          </p:cNvGraphicFramePr>
          <p:nvPr/>
        </p:nvGraphicFramePr>
        <p:xfrm>
          <a:off x="731520" y="1280160"/>
          <a:ext cx="10698480" cy="2697479"/>
        </p:xfrm>
        <a:graphic>
          <a:graphicData uri="http://schemas.openxmlformats.org/drawingml/2006/table">
            <a:tbl>
              <a:tblPr firstRow="1" bandRow="1">
                <a:tableStyleId>{5C22544A-7EE6-4342-B048-85BDC9FD1C3A}</a:tableStyleId>
              </a:tblPr>
              <a:tblGrid>
                <a:gridCol w="3566160"/>
                <a:gridCol w="3566160"/>
                <a:gridCol w="3566160"/>
              </a:tblGrid>
              <a:tr h="337184">
                <a:tc>
                  <a:txBody>
                    <a:bodyPr/>
                    <a:lstStyle/>
                    <a:p>
                      <a:pPr>
                        <a:defRPr sz="1300" b="1">
                          <a:solidFill>
                            <a:srgbClr val="F1F5F9"/>
                          </a:solidFill>
                        </a:defRPr>
                      </a:pPr>
                      <a:r>
                        <a:t>Requirement</a:t>
                      </a:r>
                    </a:p>
                  </a:txBody>
                  <a:tcPr>
                    <a:solidFill>
                      <a:srgbClr val="1E3A8A"/>
                    </a:solidFill>
                  </a:tcPr>
                </a:tc>
                <a:tc>
                  <a:txBody>
                    <a:bodyPr/>
                    <a:lstStyle/>
                    <a:p>
                      <a:pPr algn="ctr">
                        <a:defRPr sz="1300" b="1">
                          <a:solidFill>
                            <a:srgbClr val="F1F5F9"/>
                          </a:solidFill>
                        </a:defRPr>
                      </a:pPr>
                      <a:r>
                        <a:t>Slide(s)</a:t>
                      </a:r>
                    </a:p>
                  </a:txBody>
                  <a:tcPr>
                    <a:solidFill>
                      <a:srgbClr val="1E3A8A"/>
                    </a:solidFill>
                  </a:tcPr>
                </a:tc>
                <a:tc>
                  <a:txBody>
                    <a:bodyPr/>
                    <a:lstStyle/>
                    <a:p>
                      <a:pPr algn="ctr">
                        <a:defRPr sz="1300" b="1">
                          <a:solidFill>
                            <a:srgbClr val="F1F5F9"/>
                          </a:solidFill>
                        </a:defRPr>
                      </a:pPr>
                      <a:r>
                        <a:t>Coverage</a:t>
                      </a:r>
                    </a:p>
                  </a:txBody>
                  <a:tcPr>
                    <a:solidFill>
                      <a:srgbClr val="1E3A8A"/>
                    </a:solidFill>
                  </a:tcPr>
                </a:tc>
              </a:tr>
              <a:tr h="337184">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37184">
                <a:tc>
                  <a:txBody>
                    <a:bodyPr/>
                    <a:lstStyle/>
                    <a:p>
                      <a:pPr>
                        <a:defRPr sz="1200" b="1">
                          <a:solidFill>
                            <a:srgbClr val="F1F5F9"/>
                          </a:solidFill>
                        </a:defRPr>
                      </a:pPr>
                      <a:r>
                        <a:t>Problem definition — what are you doing?</a:t>
                      </a:r>
                    </a:p>
                  </a:txBody>
                  <a:tcPr>
                    <a:solidFill>
                      <a:srgbClr val="1E293B"/>
                    </a:solidFill>
                  </a:tcPr>
                </a:tc>
                <a:tc>
                  <a:txBody>
                    <a:bodyPr/>
                    <a:lstStyle/>
                    <a:p>
                      <a:pPr algn="ctr">
                        <a:defRPr sz="1200">
                          <a:solidFill>
                            <a:srgbClr val="F1F5F9"/>
                          </a:solidFill>
                        </a:defRPr>
                      </a:pPr>
                      <a:r>
                        <a:t>2</a:t>
                      </a:r>
                    </a:p>
                  </a:txBody>
                  <a:tcPr>
                    <a:solidFill>
                      <a:srgbClr val="1E293B"/>
                    </a:solidFill>
                  </a:tcPr>
                </a:tc>
                <a:tc>
                  <a:txBody>
                    <a:bodyPr/>
                    <a:lstStyle/>
                    <a:p>
                      <a:pPr algn="ctr">
                        <a:defRPr sz="1200">
                          <a:solidFill>
                            <a:srgbClr val="F1F5F9"/>
                          </a:solidFill>
                        </a:defRPr>
                      </a:pPr>
                      <a:r>
                        <a:t>Cascading failures from uncontrolled retries; three risk mechanisms with table; direct question framed in one sentence</a:t>
                      </a:r>
                    </a:p>
                  </a:txBody>
                  <a:tcPr>
                    <a:solidFill>
                      <a:srgbClr val="1E293B"/>
                    </a:solidFill>
                  </a:tcPr>
                </a:tc>
              </a:tr>
              <a:tr h="337184">
                <a:tc>
                  <a:txBody>
                    <a:bodyPr/>
                    <a:lstStyle/>
                    <a:p>
                      <a:pPr>
                        <a:defRPr sz="1200" b="1">
                          <a:solidFill>
                            <a:srgbClr val="F1F5F9"/>
                          </a:solidFill>
                        </a:defRPr>
                      </a:pPr>
                      <a:r>
                        <a:t>Why important?</a:t>
                      </a:r>
                    </a:p>
                  </a:txBody>
                  <a:tcPr/>
                </a:tc>
                <a:tc>
                  <a:txBody>
                    <a:bodyPr/>
                    <a:lstStyle/>
                    <a:p>
                      <a:pPr algn="ctr">
                        <a:defRPr sz="1200">
                          <a:solidFill>
                            <a:srgbClr val="F1F5F9"/>
                          </a:solidFill>
                        </a:defRPr>
                      </a:pPr>
                      <a:r>
                        <a:t>3</a:t>
                      </a:r>
                    </a:p>
                  </a:txBody>
                  <a:tcPr/>
                </a:tc>
                <a:tc>
                  <a:txBody>
                    <a:bodyPr/>
                    <a:lstStyle/>
                    <a:p>
                      <a:pPr algn="ctr">
                        <a:defRPr sz="1200">
                          <a:solidFill>
                            <a:srgbClr val="F1F5F9"/>
                          </a:solidFill>
                        </a:defRPr>
                      </a:pPr>
                      <a:r>
                        <a:t>E-commerce, healthcare, finance, cloud-native examples; $100K–$1M/hr downtime costs</a:t>
                      </a:r>
                    </a:p>
                  </a:txBody>
                  <a:tcPr/>
                </a:tc>
              </a:tr>
              <a:tr h="337184">
                <a:tc>
                  <a:txBody>
                    <a:bodyPr/>
                    <a:lstStyle/>
                    <a:p>
                      <a:pPr>
                        <a:defRPr sz="1200" b="1">
                          <a:solidFill>
                            <a:srgbClr val="F1F5F9"/>
                          </a:solidFill>
                        </a:defRPr>
                      </a:pPr>
                      <a:r>
                        <a:t>Why not covered by SOTA?</a:t>
                      </a:r>
                    </a:p>
                  </a:txBody>
                  <a:tcPr>
                    <a:solidFill>
                      <a:srgbClr val="1E293B"/>
                    </a:solidFill>
                  </a:tcPr>
                </a:tc>
                <a:tc>
                  <a:txBody>
                    <a:bodyPr/>
                    <a:lstStyle/>
                    <a:p>
                      <a:pPr algn="ctr">
                        <a:defRPr sz="1200">
                          <a:solidFill>
                            <a:srgbClr val="F1F5F9"/>
                          </a:solidFill>
                        </a:defRPr>
                      </a:pPr>
                      <a:r>
                        <a:t>4</a:t>
                      </a:r>
                    </a:p>
                  </a:txBody>
                  <a:tcPr>
                    <a:solidFill>
                      <a:srgbClr val="1E293B"/>
                    </a:solidFill>
                  </a:tcPr>
                </a:tc>
                <a:tc>
                  <a:txBody>
                    <a:bodyPr/>
                    <a:lstStyle/>
                    <a:p>
                      <a:pPr algn="ctr">
                        <a:defRPr sz="1200">
                          <a:solidFill>
                            <a:srgbClr val="F1F5F9"/>
                          </a:solidFill>
                        </a:defRPr>
                      </a:pPr>
                      <a:r>
                        <a:t>No shared benchmark, no open reproducible method, no educational scaffold</a:t>
                      </a:r>
                    </a:p>
                  </a:txBody>
                  <a:tcPr>
                    <a:solidFill>
                      <a:srgbClr val="1E293B"/>
                    </a:solidFill>
                  </a:tcPr>
                </a:tc>
              </a:tr>
              <a:tr h="337184">
                <a:tc>
                  <a:txBody>
                    <a:bodyPr/>
                    <a:lstStyle/>
                    <a:p>
                      <a:pPr>
                        <a:defRPr sz="1200" b="1">
                          <a:solidFill>
                            <a:srgbClr val="F1F5F9"/>
                          </a:solidFill>
                        </a:defRPr>
                      </a:pPr>
                      <a:r>
                        <a:t>Why not SOTA with small changes?</a:t>
                      </a:r>
                    </a:p>
                  </a:txBody>
                  <a:tcPr/>
                </a:tc>
                <a:tc>
                  <a:txBody>
                    <a:bodyPr/>
                    <a:lstStyle/>
                    <a:p>
                      <a:pPr algn="ctr">
                        <a:defRPr sz="1200">
                          <a:solidFill>
                            <a:srgbClr val="F1F5F9"/>
                          </a:solidFill>
                        </a:defRPr>
                      </a:pPr>
                      <a:r>
                        <a:t>5</a:t>
                      </a:r>
                    </a:p>
                  </a:txBody>
                  <a:tcPr/>
                </a:tc>
                <a:tc>
                  <a:txBody>
                    <a:bodyPr/>
                    <a:lstStyle/>
                    <a:p>
                      <a:pPr algn="ctr">
                        <a:defRPr sz="1200">
                          <a:solidFill>
                            <a:srgbClr val="F1F5F9"/>
                          </a:solidFill>
                        </a:defRPr>
                      </a:pPr>
                      <a:r>
                        <a:t>Integration wiring, fault injection mismatch, telemetry opacity, overhead distortion</a:t>
                      </a:r>
                    </a:p>
                  </a:txBody>
                  <a:tcPr/>
                </a:tc>
              </a:tr>
              <a:tr h="337184">
                <a:tc>
                  <a:txBody>
                    <a:bodyPr/>
                    <a:lstStyle/>
                    <a:p>
                      <a:pPr>
                        <a:defRPr sz="1200" b="1">
                          <a:solidFill>
                            <a:srgbClr val="F1F5F9"/>
                          </a:solidFill>
                        </a:defRPr>
                      </a:pPr>
                      <a:r>
                        <a:t>Solution type (theoretical + simulation + empirical study)</a:t>
                      </a:r>
                    </a:p>
                  </a:txBody>
                  <a:tcPr>
                    <a:solidFill>
                      <a:srgbClr val="1E293B"/>
                    </a:solidFill>
                  </a:tcPr>
                </a:tc>
                <a:tc>
                  <a:txBody>
                    <a:bodyPr/>
                    <a:lstStyle/>
                    <a:p>
                      <a:pPr algn="ctr">
                        <a:defRPr sz="1200">
                          <a:solidFill>
                            <a:srgbClr val="F1F5F9"/>
                          </a:solidFill>
                        </a:defRPr>
                      </a:pPr>
                      <a:r>
                        <a:t>6</a:t>
                      </a:r>
                    </a:p>
                  </a:txBody>
                  <a:tcPr>
                    <a:solidFill>
                      <a:srgbClr val="1E293B"/>
                    </a:solidFill>
                  </a:tcPr>
                </a:tc>
                <a:tc>
                  <a:txBody>
                    <a:bodyPr/>
                    <a:lstStyle/>
                    <a:p>
                      <a:pPr algn="ctr">
                        <a:defRPr sz="1200">
                          <a:solidFill>
                            <a:srgbClr val="F1F5F9"/>
                          </a:solidFill>
                        </a:defRPr>
                      </a:pPr>
                      <a:r>
                        <a:t>Explicitly stated as three complementary approaches; simulation + empirical study demonstrated with runnable output; theoretical analysis applied in Section 12</a:t>
                      </a:r>
                    </a:p>
                  </a:txBody>
                  <a:tcPr>
                    <a:solidFill>
                      <a:srgbClr val="1E293B"/>
                    </a:solidFill>
                  </a:tcPr>
                </a:tc>
              </a:tr>
              <a:tr h="337191">
                <a:tc>
                  <a:txBody>
                    <a:bodyPr/>
                    <a:lstStyle/>
                    <a:p>
                      <a:pPr>
                        <a:defRPr sz="1200" b="1">
                          <a:solidFill>
                            <a:srgbClr val="F1F5F9"/>
                          </a:solidFill>
                        </a:defRPr>
                      </a:pPr>
                      <a:r>
                        <a:t>Benchmark cases</a:t>
                      </a:r>
                    </a:p>
                  </a:txBody>
                  <a:tcPr/>
                </a:tc>
                <a:tc>
                  <a:txBody>
                    <a:bodyPr/>
                    <a:lstStyle/>
                    <a:p>
                      <a:pPr algn="ctr">
                        <a:defRPr sz="1200">
                          <a:solidFill>
                            <a:srgbClr val="F1F5F9"/>
                          </a:solidFill>
                        </a:defRPr>
                      </a:pPr>
                      <a:r>
                        <a:t>7, 16</a:t>
                      </a:r>
                    </a:p>
                  </a:txBody>
                  <a:tcPr/>
                </a:tc>
                <a:tc>
                  <a:txBody>
                    <a:bodyPr/>
                    <a:lstStyle/>
                    <a:p>
                      <a:pPr algn="ctr">
                        <a:defRPr sz="1200">
                          <a:solidFill>
                            <a:srgbClr val="F1F5F9"/>
                          </a:solidFill>
                        </a:defRPr>
                      </a:pPr>
                      <a:r>
                        <a:t>Primary: Mohammad (2025); Supplementary: Giri &amp; Patel (2025), Fowler (2014); Head-to-head comparison with interpretation</a:t>
                      </a:r>
                    </a:p>
                  </a:txBody>
                  <a:tcPr/>
                </a:tc>
              </a:tr>
            </a:tbl>
          </a:graphicData>
        </a:graphic>
      </p:graphicFrame>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Appendix. B — Code Metrics</a:t>
            </a:r>
          </a:p>
        </p:txBody>
      </p:sp>
      <p:graphicFrame>
        <p:nvGraphicFramePr>
          <p:cNvPr id="5" name="Table 4"/>
          <p:cNvGraphicFramePr>
            <a:graphicFrameLocks noGrp="1"/>
          </p:cNvGraphicFramePr>
          <p:nvPr/>
        </p:nvGraphicFramePr>
        <p:xfrm>
          <a:off x="731520" y="1280160"/>
          <a:ext cx="10698480" cy="3337560"/>
        </p:xfrm>
        <a:graphic>
          <a:graphicData uri="http://schemas.openxmlformats.org/drawingml/2006/table">
            <a:tbl>
              <a:tblPr firstRow="1" bandRow="1">
                <a:tableStyleId>{5C22544A-7EE6-4342-B048-85BDC9FD1C3A}</a:tableStyleId>
              </a:tblPr>
              <a:tblGrid>
                <a:gridCol w="3566160"/>
                <a:gridCol w="3566160"/>
                <a:gridCol w="3566160"/>
              </a:tblGrid>
              <a:tr h="333756">
                <a:tc>
                  <a:txBody>
                    <a:bodyPr/>
                    <a:lstStyle/>
                    <a:p>
                      <a:pPr>
                        <a:defRPr sz="1300" b="1">
                          <a:solidFill>
                            <a:srgbClr val="F1F5F9"/>
                          </a:solidFill>
                        </a:defRPr>
                      </a:pPr>
                      <a:r>
                        <a:t>File</a:t>
                      </a:r>
                    </a:p>
                  </a:txBody>
                  <a:tcPr>
                    <a:solidFill>
                      <a:srgbClr val="1E3A8A"/>
                    </a:solidFill>
                  </a:tcPr>
                </a:tc>
                <a:tc>
                  <a:txBody>
                    <a:bodyPr/>
                    <a:lstStyle/>
                    <a:p>
                      <a:pPr algn="ctr">
                        <a:defRPr sz="1300" b="1">
                          <a:solidFill>
                            <a:srgbClr val="F1F5F9"/>
                          </a:solidFill>
                        </a:defRPr>
                      </a:pPr>
                      <a:r>
                        <a:t>Lines</a:t>
                      </a:r>
                    </a:p>
                  </a:txBody>
                  <a:tcPr>
                    <a:solidFill>
                      <a:srgbClr val="1E3A8A"/>
                    </a:solidFill>
                  </a:tcPr>
                </a:tc>
                <a:tc>
                  <a:txBody>
                    <a:bodyPr/>
                    <a:lstStyle/>
                    <a:p>
                      <a:pPr algn="ctr">
                        <a:defRPr sz="1300" b="1">
                          <a:solidFill>
                            <a:srgbClr val="F1F5F9"/>
                          </a:solidFill>
                        </a:defRPr>
                      </a:pPr>
                      <a:r>
                        <a:t>Purpose</a:t>
                      </a:r>
                    </a:p>
                  </a:txBody>
                  <a:tcPr>
                    <a:solidFill>
                      <a:srgbClr val="1E3A8A"/>
                    </a:solidFill>
                  </a:tcPr>
                </a:tc>
              </a:tr>
              <a:tr h="333756">
                <a:tc>
                  <a:txBody>
                    <a:bodyPr/>
                    <a:lstStyle/>
                    <a:p>
                      <a:pPr>
                        <a:defRPr sz="1200" b="1">
                          <a:solidFill>
                            <a:srgbClr val="F1F5F9"/>
                          </a:solidFill>
                        </a:defRPr>
                      </a:pPr>
                      <a:r>
                        <a:t>------</a:t>
                      </a:r>
                    </a:p>
                  </a:txBody>
                  <a:tcPr/>
                </a:tc>
                <a:tc>
                  <a:txBody>
                    <a:bodyPr/>
                    <a:lstStyle/>
                    <a:p>
                      <a:pPr algn="ctr">
                        <a:defRPr sz="1200">
                          <a:solidFill>
                            <a:srgbClr val="F1F5F9"/>
                          </a:solidFill>
                        </a:defRPr>
                      </a:pPr>
                      <a:r>
                        <a:t>-------</a:t>
                      </a:r>
                    </a:p>
                  </a:txBody>
                  <a:tcPr/>
                </a:tc>
                <a:tc>
                  <a:txBody>
                    <a:bodyPr/>
                    <a:lstStyle/>
                    <a:p>
                      <a:pPr algn="ctr">
                        <a:defRPr sz="1200">
                          <a:solidFill>
                            <a:srgbClr val="F1F5F9"/>
                          </a:solidFill>
                        </a:defRPr>
                      </a:pPr>
                      <a:r>
                        <a:t>---------</a:t>
                      </a:r>
                    </a:p>
                  </a:txBody>
                  <a:tcPr/>
                </a:tc>
              </a:tr>
              <a:tr h="333756">
                <a:tc>
                  <a:txBody>
                    <a:bodyPr/>
                    <a:lstStyle/>
                    <a:p>
                      <a:pPr>
                        <a:defRPr sz="1200" b="1">
                          <a:solidFill>
                            <a:srgbClr val="F1F5F9"/>
                          </a:solidFill>
                        </a:defRPr>
                      </a:pPr>
                      <a:r>
                        <a:t>`downstream_service.py`</a:t>
                      </a:r>
                    </a:p>
                  </a:txBody>
                  <a:tcPr>
                    <a:solidFill>
                      <a:srgbClr val="1E293B"/>
                    </a:solidFill>
                  </a:tcPr>
                </a:tc>
                <a:tc>
                  <a:txBody>
                    <a:bodyPr/>
                    <a:lstStyle/>
                    <a:p>
                      <a:pPr algn="ctr">
                        <a:defRPr sz="1200">
                          <a:solidFill>
                            <a:srgbClr val="F1F5F9"/>
                          </a:solidFill>
                        </a:defRPr>
                      </a:pPr>
                      <a:r>
                        <a:t>100</a:t>
                      </a:r>
                    </a:p>
                  </a:txBody>
                  <a:tcPr>
                    <a:solidFill>
                      <a:srgbClr val="1E293B"/>
                    </a:solidFill>
                  </a:tcPr>
                </a:tc>
                <a:tc>
                  <a:txBody>
                    <a:bodyPr/>
                    <a:lstStyle/>
                    <a:p>
                      <a:pPr algn="ctr">
                        <a:defRPr sz="1200">
                          <a:solidFill>
                            <a:srgbClr val="F1F5F9"/>
                          </a:solidFill>
                        </a:defRPr>
                      </a:pPr>
                      <a:r>
                        <a:t>Flask service, burst-correlated error injection, fault endpoints</a:t>
                      </a:r>
                    </a:p>
                  </a:txBody>
                  <a:tcPr>
                    <a:solidFill>
                      <a:srgbClr val="1E293B"/>
                    </a:solidFill>
                  </a:tcPr>
                </a:tc>
              </a:tr>
              <a:tr h="333756">
                <a:tc>
                  <a:txBody>
                    <a:bodyPr/>
                    <a:lstStyle/>
                    <a:p>
                      <a:pPr>
                        <a:defRPr sz="1200" b="1">
                          <a:solidFill>
                            <a:srgbClr val="F1F5F9"/>
                          </a:solidFill>
                        </a:defRPr>
                      </a:pPr>
                      <a:r>
                        <a:t>`client_patterns.py`</a:t>
                      </a:r>
                    </a:p>
                  </a:txBody>
                  <a:tcPr/>
                </a:tc>
                <a:tc>
                  <a:txBody>
                    <a:bodyPr/>
                    <a:lstStyle/>
                    <a:p>
                      <a:pPr algn="ctr">
                        <a:defRPr sz="1200">
                          <a:solidFill>
                            <a:srgbClr val="F1F5F9"/>
                          </a:solidFill>
                        </a:defRPr>
                      </a:pPr>
                      <a:r>
                        <a:t>100</a:t>
                      </a:r>
                    </a:p>
                  </a:txBody>
                  <a:tcPr/>
                </a:tc>
                <a:tc>
                  <a:txBody>
                    <a:bodyPr/>
                    <a:lstStyle/>
                    <a:p>
                      <a:pPr algn="ctr">
                        <a:defRPr sz="1200">
                          <a:solidFill>
                            <a:srgbClr val="F1F5F9"/>
                          </a:solidFill>
                        </a:defRPr>
                      </a:pPr>
                      <a:r>
                        <a:t>All 4 resilience patterns + factory functions</a:t>
                      </a:r>
                    </a:p>
                  </a:txBody>
                  <a:tcPr/>
                </a:tc>
              </a:tr>
              <a:tr h="333756">
                <a:tc>
                  <a:txBody>
                    <a:bodyPr/>
                    <a:lstStyle/>
                    <a:p>
                      <a:pPr>
                        <a:defRPr sz="1200" b="1">
                          <a:solidFill>
                            <a:srgbClr val="F1F5F9"/>
                          </a:solidFill>
                        </a:defRPr>
                      </a:pPr>
                      <a:r>
                        <a:t>`fault_injector.py`</a:t>
                      </a:r>
                    </a:p>
                  </a:txBody>
                  <a:tcPr>
                    <a:solidFill>
                      <a:srgbClr val="1E293B"/>
                    </a:solidFill>
                  </a:tcPr>
                </a:tc>
                <a:tc>
                  <a:txBody>
                    <a:bodyPr/>
                    <a:lstStyle/>
                    <a:p>
                      <a:pPr algn="ctr">
                        <a:defRPr sz="1200">
                          <a:solidFill>
                            <a:srgbClr val="F1F5F9"/>
                          </a:solidFill>
                        </a:defRPr>
                      </a:pPr>
                      <a:r>
                        <a:t>55</a:t>
                      </a:r>
                    </a:p>
                  </a:txBody>
                  <a:tcPr>
                    <a:solidFill>
                      <a:srgbClr val="1E293B"/>
                    </a:solidFill>
                  </a:tcPr>
                </a:tc>
                <a:tc>
                  <a:txBody>
                    <a:bodyPr/>
                    <a:lstStyle/>
                    <a:p>
                      <a:pPr algn="ctr">
                        <a:defRPr sz="1200">
                          <a:solidFill>
                            <a:srgbClr val="F1F5F9"/>
                          </a:solidFill>
                        </a:defRPr>
                      </a:pPr>
                      <a:r>
                        <a:t>Ramp schedule, background thread, burst-mode support</a:t>
                      </a:r>
                    </a:p>
                  </a:txBody>
                  <a:tcPr>
                    <a:solidFill>
                      <a:srgbClr val="1E293B"/>
                    </a:solidFill>
                  </a:tcPr>
                </a:tc>
              </a:tr>
              <a:tr h="333756">
                <a:tc>
                  <a:txBody>
                    <a:bodyPr/>
                    <a:lstStyle/>
                    <a:p>
                      <a:pPr>
                        <a:defRPr sz="1200" b="1">
                          <a:solidFill>
                            <a:srgbClr val="F1F5F9"/>
                          </a:solidFill>
                        </a:defRPr>
                      </a:pPr>
                      <a:r>
                        <a:t>`load_runner.py`</a:t>
                      </a:r>
                    </a:p>
                  </a:txBody>
                  <a:tcPr/>
                </a:tc>
                <a:tc>
                  <a:txBody>
                    <a:bodyPr/>
                    <a:lstStyle/>
                    <a:p>
                      <a:pPr algn="ctr">
                        <a:defRPr sz="1200">
                          <a:solidFill>
                            <a:srgbClr val="F1F5F9"/>
                          </a:solidFill>
                        </a:defRPr>
                      </a:pPr>
                      <a:r>
                        <a:t>144</a:t>
                      </a:r>
                    </a:p>
                  </a:txBody>
                  <a:tcPr/>
                </a:tc>
                <a:tc>
                  <a:txBody>
                    <a:bodyPr/>
                    <a:lstStyle/>
                    <a:p>
                      <a:pPr algn="ctr">
                        <a:defRPr sz="1200">
                          <a:solidFill>
                            <a:srgbClr val="F1F5F9"/>
                          </a:solidFill>
                        </a:defRPr>
                      </a:pPr>
                      <a:r>
                        <a:t>Queue-backed threaded load generator with per-request telemetry</a:t>
                      </a:r>
                    </a:p>
                  </a:txBody>
                  <a:tcPr/>
                </a:tc>
              </a:tr>
              <a:tr h="333756">
                <a:tc>
                  <a:txBody>
                    <a:bodyPr/>
                    <a:lstStyle/>
                    <a:p>
                      <a:pPr>
                        <a:defRPr sz="1200" b="1">
                          <a:solidFill>
                            <a:srgbClr val="F1F5F9"/>
                          </a:solidFill>
                        </a:defRPr>
                      </a:pPr>
                      <a:r>
                        <a:t>`metrics.py`</a:t>
                      </a:r>
                    </a:p>
                  </a:txBody>
                  <a:tcPr>
                    <a:solidFill>
                      <a:srgbClr val="1E293B"/>
                    </a:solidFill>
                  </a:tcPr>
                </a:tc>
                <a:tc>
                  <a:txBody>
                    <a:bodyPr/>
                    <a:lstStyle/>
                    <a:p>
                      <a:pPr algn="ctr">
                        <a:defRPr sz="1200">
                          <a:solidFill>
                            <a:srgbClr val="F1F5F9"/>
                          </a:solidFill>
                        </a:defRPr>
                      </a:pPr>
                      <a:r>
                        <a:t>70</a:t>
                      </a:r>
                    </a:p>
                  </a:txBody>
                  <a:tcPr>
                    <a:solidFill>
                      <a:srgbClr val="1E293B"/>
                    </a:solidFill>
                  </a:tcPr>
                </a:tc>
                <a:tc>
                  <a:txBody>
                    <a:bodyPr/>
                    <a:lstStyle/>
                    <a:p>
                      <a:pPr algn="ctr">
                        <a:defRPr sz="1200">
                          <a:solidFill>
                            <a:srgbClr val="F1F5F9"/>
                          </a:solidFill>
                        </a:defRPr>
                      </a:pPr>
                      <a:r>
                        <a:t>Percentile computation, JSON result persistence</a:t>
                      </a:r>
                    </a:p>
                  </a:txBody>
                  <a:tcPr>
                    <a:solidFill>
                      <a:srgbClr val="1E293B"/>
                    </a:solidFill>
                  </a:tcPr>
                </a:tc>
              </a:tr>
              <a:tr h="333756">
                <a:tc>
                  <a:txBody>
                    <a:bodyPr/>
                    <a:lstStyle/>
                    <a:p>
                      <a:pPr>
                        <a:defRPr sz="1200" b="1">
                          <a:solidFill>
                            <a:srgbClr val="F1F5F9"/>
                          </a:solidFill>
                        </a:defRPr>
                      </a:pPr>
                      <a:r>
                        <a:t>`report.py`</a:t>
                      </a:r>
                    </a:p>
                  </a:txBody>
                  <a:tcPr/>
                </a:tc>
                <a:tc>
                  <a:txBody>
                    <a:bodyPr/>
                    <a:lstStyle/>
                    <a:p>
                      <a:pPr algn="ctr">
                        <a:defRPr sz="1200">
                          <a:solidFill>
                            <a:srgbClr val="F1F5F9"/>
                          </a:solidFill>
                        </a:defRPr>
                      </a:pPr>
                      <a:r>
                        <a:t>122</a:t>
                      </a:r>
                    </a:p>
                  </a:txBody>
                  <a:tcPr/>
                </a:tc>
                <a:tc>
                  <a:txBody>
                    <a:bodyPr/>
                    <a:lstStyle/>
                    <a:p>
                      <a:pPr algn="ctr">
                        <a:defRPr sz="1200">
                          <a:solidFill>
                            <a:srgbClr val="F1F5F9"/>
                          </a:solidFill>
                        </a:defRPr>
                      </a:pPr>
                      <a:r>
                        <a:t>Markdown comparison table + matplotlib chart generation</a:t>
                      </a:r>
                    </a:p>
                  </a:txBody>
                  <a:tcPr/>
                </a:tc>
              </a:tr>
              <a:tr h="333756">
                <a:tc>
                  <a:txBody>
                    <a:bodyPr/>
                    <a:lstStyle/>
                    <a:p>
                      <a:pPr>
                        <a:defRPr sz="1200" b="1">
                          <a:solidFill>
                            <a:srgbClr val="F1F5F9"/>
                          </a:solidFill>
                        </a:defRPr>
                      </a:pPr>
                      <a:r>
                        <a:t>`experiment_runner.py`</a:t>
                      </a:r>
                    </a:p>
                  </a:txBody>
                  <a:tcPr>
                    <a:solidFill>
                      <a:srgbClr val="1E293B"/>
                    </a:solidFill>
                  </a:tcPr>
                </a:tc>
                <a:tc>
                  <a:txBody>
                    <a:bodyPr/>
                    <a:lstStyle/>
                    <a:p>
                      <a:pPr algn="ctr">
                        <a:defRPr sz="1200">
                          <a:solidFill>
                            <a:srgbClr val="F1F5F9"/>
                          </a:solidFill>
                        </a:defRPr>
                      </a:pPr>
                      <a:r>
                        <a:t>162</a:t>
                      </a:r>
                    </a:p>
                  </a:txBody>
                  <a:tcPr>
                    <a:solidFill>
                      <a:srgbClr val="1E293B"/>
                    </a:solidFill>
                  </a:tcPr>
                </a:tc>
                <a:tc>
                  <a:txBody>
                    <a:bodyPr/>
                    <a:lstStyle/>
                    <a:p>
                      <a:pPr algn="ctr">
                        <a:defRPr sz="1200">
                          <a:solidFill>
                            <a:srgbClr val="F1F5F9"/>
                          </a:solidFill>
                        </a:defRPr>
                      </a:pPr>
                      <a:r>
                        <a:t>Orchestrator, burst-mode config, per-config lifecycle management</a:t>
                      </a:r>
                    </a:p>
                  </a:txBody>
                  <a:tcPr>
                    <a:solidFill>
                      <a:srgbClr val="1E293B"/>
                    </a:solidFill>
                  </a:tcPr>
                </a:tc>
              </a:tr>
              <a:tr h="333756">
                <a:tc>
                  <a:txBody>
                    <a:bodyPr/>
                    <a:lstStyle/>
                    <a:p>
                      <a:pPr>
                        <a:defRPr sz="1200" b="1">
                          <a:solidFill>
                            <a:srgbClr val="F1F5F9"/>
                          </a:solidFill>
                        </a:defRPr>
                      </a:pPr>
                      <a:r>
                        <a:t>**Total**</a:t>
                      </a:r>
                    </a:p>
                  </a:txBody>
                  <a:tcPr/>
                </a:tc>
                <a:tc>
                  <a:txBody>
                    <a:bodyPr/>
                    <a:lstStyle/>
                    <a:p>
                      <a:pPr algn="ctr">
                        <a:defRPr sz="1200">
                          <a:solidFill>
                            <a:srgbClr val="F1F5F9"/>
                          </a:solidFill>
                        </a:defRPr>
                      </a:pPr>
                      <a:r>
                        <a:t>**~753**</a:t>
                      </a:r>
                    </a:p>
                  </a:txBody>
                  <a:tcPr/>
                </a:tc>
                <a:tc>
                  <a:txBody>
                    <a:bodyPr/>
                    <a:lstStyle/>
                    <a:p>
                      <a:pPr algn="ctr">
                        <a:defRPr sz="1200">
                          <a:solidFill>
                            <a:srgbClr val="F1F5F9"/>
                          </a:solidFill>
                        </a:defRPr>
                      </a:pPr>
                      <a:r>
                        <a:t>Pure Python, zero application dependencies beyond Flask ecosystem</a:t>
                      </a:r>
                    </a:p>
                  </a:txBody>
                  <a:tcPr/>
                </a:tc>
              </a:tr>
            </a:tbl>
          </a:graphicData>
        </a:graphic>
      </p:graphicFrame>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74320"/>
            <a:ext cx="10698480" cy="822960"/>
          </a:xfrm>
          <a:prstGeom prst="rect">
            <a:avLst/>
          </a:prstGeom>
          <a:noFill/>
        </p:spPr>
        <p:txBody>
          <a:bodyPr wrap="square">
            <a:spAutoFit/>
          </a:bodyPr>
          <a:lstStyle/>
          <a:p>
            <a:pPr algn="l">
              <a:defRPr sz="3200" b="1" i="0">
                <a:solidFill>
                  <a:srgbClr val="3B82F6"/>
                </a:solidFill>
              </a:defRPr>
            </a:pPr>
            <a:r>
              <a:t>Appendix. C — Reproduction Instructions</a:t>
            </a:r>
          </a:p>
        </p:txBody>
      </p:sp>
      <p:sp>
        <p:nvSpPr>
          <p:cNvPr id="5" name="TextBox 4"/>
          <p:cNvSpPr txBox="1"/>
          <p:nvPr/>
        </p:nvSpPr>
        <p:spPr>
          <a:xfrm>
            <a:off x="731520" y="1280160"/>
            <a:ext cx="10698480" cy="2743200"/>
          </a:xfrm>
          <a:prstGeom prst="rect">
            <a:avLst/>
          </a:prstGeom>
          <a:noFill/>
        </p:spPr>
        <p:txBody>
          <a:bodyPr wrap="square">
            <a:spAutoFit/>
          </a:bodyPr>
          <a:lstStyle/>
          <a:p>
            <a:pPr>
              <a:spcAft>
                <a:spcPts val="600"/>
              </a:spcAft>
            </a:pPr>
            <a:r>
              <a:rPr sz="1700">
                <a:solidFill>
                  <a:srgbClr val="94A3B8"/>
                </a:solidFill>
              </a:rPr>
              <a:t>Delete the `results/` directory and re-run:</a:t>
            </a:r>
          </a:p>
          <a:p>
            <a:pPr>
              <a:spcAft>
                <a:spcPts val="600"/>
              </a:spcAft>
            </a:pPr>
            <a:r>
              <a:rPr sz="1700">
                <a:solidFill>
                  <a:srgbClr val="94A3B8"/>
                </a:solidFill>
              </a:rPr>
              <a:t>```bash</a:t>
            </a:r>
          </a:p>
          <a:p>
            <a:pPr>
              <a:spcAft>
                <a:spcPts val="600"/>
              </a:spcAft>
            </a:pPr>
            <a:r>
              <a:rPr sz="1700">
                <a:solidFill>
                  <a:srgbClr val="94A3B8"/>
                </a:solidFill>
              </a:rPr>
              <a:t>python3 -m venv .venv</a:t>
            </a:r>
          </a:p>
          <a:p>
            <a:pPr>
              <a:spcAft>
                <a:spcPts val="600"/>
              </a:spcAft>
            </a:pPr>
            <a:r>
              <a:rPr sz="1700">
                <a:solidFill>
                  <a:srgbClr val="94A3B8"/>
                </a:solidFill>
              </a:rPr>
              <a:t>.venv/bin/pip install -r requirements.txt</a:t>
            </a:r>
          </a:p>
          <a:p>
            <a:pPr>
              <a:spcAft>
                <a:spcPts val="600"/>
              </a:spcAft>
            </a:pPr>
            <a:r>
              <a:rPr sz="1700">
                <a:solidFill>
                  <a:srgbClr val="94A3B8"/>
                </a:solidFill>
              </a:rPr>
              <a:t>.venv/bin/python experiment_runner.py</a:t>
            </a:r>
          </a:p>
          <a:p>
            <a:pPr>
              <a:spcAft>
                <a:spcPts val="600"/>
              </a:spcAft>
            </a:pPr>
            <a:r>
              <a:rPr sz="1700">
                <a:solidFill>
                  <a:srgbClr val="94A3B8"/>
                </a:solidFill>
              </a:rPr>
              <a:t>```</a:t>
            </a:r>
          </a:p>
          <a:p>
            <a:pPr>
              <a:spcAft>
                <a:spcPts val="600"/>
              </a:spcAft>
            </a:pPr>
            <a:r>
              <a:rPr sz="1700">
                <a:solidFill>
                  <a:srgbClr val="94A3B8"/>
                </a:solidFill>
              </a:rPr>
              <a:t>Outputs go to `results/`:</a:t>
            </a:r>
          </a:p>
          <a:p>
            <a:pPr>
              <a:spcAft>
                <a:spcPts val="600"/>
              </a:spcAft>
            </a:pPr>
            <a:r>
              <a:rPr sz="1700">
                <a:solidFill>
                  <a:srgbClr val="94A3B8"/>
                </a:solidFill>
              </a:rPr>
              <a:t>- `no_retry.json`, `naive_retry.json`, `retry_jitter.json`, `retry_jitter_cb.json` (raw per-request data)</a:t>
            </a:r>
          </a:p>
          <a:p>
            <a:pPr>
              <a:spcAft>
                <a:spcPts val="600"/>
              </a:spcAft>
            </a:pPr>
            <a:r>
              <a:rPr sz="1700">
                <a:solidFill>
                  <a:srgbClr val="94A3B8"/>
                </a:solidFill>
              </a:rPr>
              <a:t>- `*_metrics.json` (aggregate statistics per configuration)</a:t>
            </a:r>
          </a:p>
          <a:p>
            <a:pPr>
              <a:spcAft>
                <a:spcPts val="600"/>
              </a:spcAft>
            </a:pPr>
            <a:r>
              <a:rPr sz="1700">
                <a:solidFill>
                  <a:srgbClr val="94A3B8"/>
                </a:solidFill>
              </a:rPr>
              <a:t>- `comparison_table.md` (Markdown comparison table)</a:t>
            </a:r>
          </a:p>
          <a:p>
            <a:pPr>
              <a:spcAft>
                <a:spcPts val="600"/>
              </a:spcAft>
            </a:pPr>
            <a:r>
              <a:rPr sz="1700">
                <a:solidFill>
                  <a:srgbClr val="94A3B8"/>
                </a:solidFill>
              </a:rPr>
              <a:t>- `comparison_chart.png` (grouped bar chart: P99 latency + error rate)</a:t>
            </a:r>
          </a:p>
          <a:p>
            <a:pPr>
              <a:spcAft>
                <a:spcPts val="600"/>
              </a:spcAft>
            </a:pPr>
            <a:r>
              <a:rPr sz="1700">
                <a:solidFill>
                  <a:srgbClr val="94A3B8"/>
                </a:solidFill>
              </a:rPr>
              <a:t>Reproducibility guaranteed: delete `results/` and re-run — the framework resets fault state between configurations.</a:t>
            </a:r>
          </a:p>
        </p:txBody>
      </p:sp>
      <p:sp>
        <p:nvSpPr>
          <p:cNvPr id="6" name="TextBox 5"/>
          <p:cNvSpPr txBox="1"/>
          <p:nvPr/>
        </p:nvSpPr>
        <p:spPr>
          <a:xfrm>
            <a:off x="457200" y="6400800"/>
            <a:ext cx="11247120" cy="365760"/>
          </a:xfrm>
          <a:prstGeom prst="rect">
            <a:avLst/>
          </a:prstGeom>
          <a:noFill/>
        </p:spPr>
        <p:txBody>
          <a:bodyPr wrap="square">
            <a:spAutoFit/>
          </a:bodyPr>
          <a:lstStyle/>
          <a:p>
            <a:pPr algn="ctr">
              <a:defRPr sz="1000" b="0" i="0">
                <a:solidFill>
                  <a:srgbClr val="94A3B8"/>
                </a:solidFill>
              </a:defRPr>
            </a:pPr>
            <a:r>
              <a:t>Fault-Tolerant Distributed Systems — Final    |    Slide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